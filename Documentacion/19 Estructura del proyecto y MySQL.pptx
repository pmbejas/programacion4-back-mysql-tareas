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7" r:id="rId21"/>
    <p:sldId id="275" r:id="rId22"/>
    <p:sldId id="276" r:id="rId23"/>
    <p:sldId id="278" r:id="rId24"/>
    <p:sldId id="279" r:id="rId25"/>
    <p:sldId id="280" r:id="rId26"/>
    <p:sldId id="281" r:id="rId27"/>
    <p:sldId id="282" r:id="rId28"/>
    <p:sldId id="286" r:id="rId29"/>
    <p:sldId id="283" r:id="rId30"/>
    <p:sldId id="284" r:id="rId31"/>
    <p:sldId id="285"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3" name="Straight Connector 12">
            <a:extLst>
              <a:ext uri="{FF2B5EF4-FFF2-40B4-BE49-F238E27FC236}">
                <a16:creationId xmlns:a16="http://schemas.microsoft.com/office/drawing/2014/main" id="{1CBB8E81-5147-5506-5F4B-DBC0E7AF26E1}"/>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4852B95-CFB8-EEBE-3973-7363B361118A}"/>
              </a:ext>
              <a:ext uri="{C183D7F6-B498-43B3-948B-1728B52AA6E4}">
                <adec:decorative xmlns:adec="http://schemas.microsoft.com/office/drawing/2017/decorative" val="1"/>
              </a:ext>
            </a:extLst>
          </p:cNvPr>
          <p:cNvCxnSpPr>
            <a:cxnSpLocks/>
          </p:cNvCxnSpPr>
          <p:nvPr/>
        </p:nvCxnSpPr>
        <p:spPr>
          <a:xfrm>
            <a:off x="696332" y="768924"/>
            <a:ext cx="0" cy="48006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0" name="Picture Placeholder 9">
            <a:extLst>
              <a:ext uri="{FF2B5EF4-FFF2-40B4-BE49-F238E27FC236}">
                <a16:creationId xmlns:a16="http://schemas.microsoft.com/office/drawing/2014/main" id="{F1A205B3-F30A-B2B0-2AFF-593443D32773}"/>
              </a:ext>
              <a:ext uri="{C183D7F6-B498-43B3-948B-1728B52AA6E4}">
                <adec:decorative xmlns:adec="http://schemas.microsoft.com/office/drawing/2017/decorative" val="0"/>
              </a:ext>
            </a:extLst>
          </p:cNvPr>
          <p:cNvSpPr>
            <a:spLocks noGrp="1"/>
          </p:cNvSpPr>
          <p:nvPr>
            <p:ph type="pic" sz="quarter" idx="14" hasCustomPrompt="1"/>
          </p:nvPr>
        </p:nvSpPr>
        <p:spPr>
          <a:xfrm>
            <a:off x="5503863" y="1354138"/>
            <a:ext cx="5322887" cy="4481512"/>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914400" y="831992"/>
            <a:ext cx="5897880" cy="4258956"/>
          </a:xfrm>
          <a:solidFill>
            <a:schemeClr val="bg2"/>
          </a:solidFill>
        </p:spPr>
        <p:txBody>
          <a:bodyPr lIns="182880" rIns="228600" bIns="91440" anchor="b">
            <a:normAutofit/>
          </a:bodyPr>
          <a:lstStyle>
            <a:lvl1pPr algn="r">
              <a:lnSpc>
                <a:spcPct val="80000"/>
              </a:lnSpc>
              <a:defRPr sz="7200">
                <a:solidFill>
                  <a:schemeClr val="accent1"/>
                </a:solidFill>
              </a:defRPr>
            </a:lvl1pPr>
          </a:lstStyle>
          <a:p>
            <a:r>
              <a:rPr lang="es-ES"/>
              <a:t>Haga clic para modificar el estilo de título del patrón</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605431" y="5372809"/>
            <a:ext cx="2364946" cy="909119"/>
          </a:xfrm>
          <a:solidFill>
            <a:schemeClr val="bg2"/>
          </a:solidFill>
        </p:spPr>
        <p:txBody>
          <a:bodyPr vert="horz" lIns="91440" tIns="45720" rIns="91440" bIns="45720" rtlCol="0" anchor="b">
            <a:normAutofit/>
          </a:bodyPr>
          <a:lstStyle>
            <a:lvl1pPr marL="0" indent="0">
              <a:lnSpc>
                <a:spcPct val="100000"/>
              </a:lnSpc>
              <a:buNone/>
              <a:defRPr lang="en-US" sz="1600" cap="all" baseline="0" dirty="0">
                <a:solidFill>
                  <a:schemeClr val="accent3">
                    <a:lumMod val="75000"/>
                  </a:schemeClr>
                </a:solidFill>
                <a:latin typeface="+mj-lt"/>
              </a:defRPr>
            </a:lvl1pPr>
          </a:lstStyle>
          <a:p>
            <a:pPr lvl="0"/>
            <a:r>
              <a:rPr lang="es-ES"/>
              <a:t>Haga clic para modificar el estilo de subtítulo del patrón</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547529" y="612251"/>
            <a:ext cx="2070397" cy="518965"/>
          </a:xfrm>
          <a:solidFill>
            <a:schemeClr val="bg2"/>
          </a:solidFill>
        </p:spPr>
        <p:txBody>
          <a:bodyPr anchor="t"/>
          <a:lstStyle>
            <a:lvl1pPr algn="r">
              <a:defRPr sz="1050"/>
            </a:lvl1pPr>
          </a:lstStyle>
          <a:p>
            <a:endParaRPr lang="es-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97326" y="5229935"/>
            <a:ext cx="1223795" cy="365125"/>
          </a:xfrm>
          <a:solidFill>
            <a:schemeClr val="bg2"/>
          </a:solidFill>
        </p:spPr>
        <p:txBody>
          <a:bodyPr rIns="182880"/>
          <a:lstStyle/>
          <a:p>
            <a:fld id="{A1FA8894-54A6-4349-B0F6-9E5352737AA0}" type="datetimeFigureOut">
              <a:rPr lang="es-AR" smtClean="0"/>
              <a:t>8/10/2026</a:t>
            </a:fld>
            <a:endParaRPr lang="es-AR"/>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01400" y="6029866"/>
            <a:ext cx="461438" cy="365125"/>
          </a:xfrm>
          <a:solidFill>
            <a:schemeClr val="bg2"/>
          </a:solidFill>
        </p:spPr>
        <p:txBody>
          <a:bodyPr/>
          <a:lstStyle/>
          <a:p>
            <a:fld id="{32BAF6E4-81DD-4D1D-A82A-B5B3BA61161D}" type="slidenum">
              <a:rPr lang="es-AR" smtClean="0"/>
              <a:t>‹Nº›</a:t>
            </a:fld>
            <a:endParaRPr lang="es-AR"/>
          </a:p>
        </p:txBody>
      </p:sp>
    </p:spTree>
    <p:extLst>
      <p:ext uri="{BB962C8B-B14F-4D97-AF65-F5344CB8AC3E}">
        <p14:creationId xmlns:p14="http://schemas.microsoft.com/office/powerpoint/2010/main" val="36255115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id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2986" y="265728"/>
            <a:ext cx="10981137" cy="1325563"/>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2986" y="1736176"/>
            <a:ext cx="10981137" cy="419886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s-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A1FA8894-54A6-4349-B0F6-9E5352737AA0}" type="datetimeFigureOut">
              <a:rPr lang="es-AR" smtClean="0"/>
              <a:t>8/10/2026</a:t>
            </a:fld>
            <a:endParaRPr lang="es-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32BAF6E4-81DD-4D1D-A82A-B5B3BA61161D}" type="slidenum">
              <a:rPr lang="es-AR" smtClean="0"/>
              <a:t>‹Nº›</a:t>
            </a:fld>
            <a:endParaRPr lang="es-AR"/>
          </a:p>
        </p:txBody>
      </p:sp>
    </p:spTree>
    <p:extLst>
      <p:ext uri="{BB962C8B-B14F-4D97-AF65-F5344CB8AC3E}">
        <p14:creationId xmlns:p14="http://schemas.microsoft.com/office/powerpoint/2010/main" val="3891259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90397"/>
            <a:ext cx="0" cy="4396003"/>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FD120947-D69A-84F3-7617-0239E8E5C7F8}"/>
              </a:ext>
              <a:ext uri="{C183D7F6-B498-43B3-948B-1728B52AA6E4}">
                <adec:decorative xmlns:adec="http://schemas.microsoft.com/office/drawing/2017/decorative" val="0"/>
              </a:ext>
            </a:extLst>
          </p:cNvPr>
          <p:cNvSpPr>
            <a:spLocks noGrp="1"/>
          </p:cNvSpPr>
          <p:nvPr>
            <p:ph type="pic" sz="quarter" idx="13" hasCustomPrompt="1"/>
          </p:nvPr>
        </p:nvSpPr>
        <p:spPr>
          <a:xfrm>
            <a:off x="-791" y="1371600"/>
            <a:ext cx="6706392" cy="54864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4133850" y="685799"/>
            <a:ext cx="6373670" cy="2743201"/>
          </a:xfrm>
          <a:solidFill>
            <a:schemeClr val="bg2"/>
          </a:solidFill>
        </p:spPr>
        <p:txBody>
          <a:bodyPr vert="horz" lIns="182880" tIns="45720" rIns="91440" bIns="91440" rtlCol="0" anchor="b">
            <a:normAutofit/>
          </a:bodyPr>
          <a:lstStyle>
            <a:lvl1pPr>
              <a:lnSpc>
                <a:spcPct val="80000"/>
              </a:lnSpc>
              <a:defRPr lang="en-US" sz="6800" dirty="0">
                <a:solidFill>
                  <a:schemeClr val="accent1"/>
                </a:solidFill>
              </a:defRPr>
            </a:lvl1pPr>
          </a:lstStyle>
          <a:p>
            <a:pPr lvl="0"/>
            <a:r>
              <a:rPr lang="es-ES"/>
              <a:t>Haga clic para modificar el estilo de título del patrón</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7500457" y="5570290"/>
            <a:ext cx="4114799" cy="699518"/>
          </a:xfrm>
        </p:spPr>
        <p:txBody>
          <a:bodyPr vert="horz" lIns="91440" tIns="45720" rIns="91440" bIns="45720" rtlCol="0" anchor="b">
            <a:normAutofit/>
          </a:bodyPr>
          <a:lstStyle>
            <a:lvl1pPr marL="0" indent="0" algn="r">
              <a:buNone/>
              <a:defRPr lang="en-US" sz="1600" cap="all" baseline="0" dirty="0">
                <a:solidFill>
                  <a:schemeClr val="accent3">
                    <a:lumMod val="75000"/>
                  </a:schemeClr>
                </a:solidFill>
                <a:latin typeface="+mj-lt"/>
              </a:defRPr>
            </a:lvl1pPr>
          </a:lstStyle>
          <a:p>
            <a:pPr lvl="0"/>
            <a:r>
              <a:rPr lang="es-ES"/>
              <a:t>Haga clic para modificar el estilo de subtítulo del patrón</a:t>
            </a:r>
            <a:endParaRPr lang="en-US" dirty="0"/>
          </a:p>
        </p:txBody>
      </p:sp>
      <p:sp>
        <p:nvSpPr>
          <p:cNvPr id="6" name="Slide Number Placeholder 5">
            <a:extLst>
              <a:ext uri="{FF2B5EF4-FFF2-40B4-BE49-F238E27FC236}">
                <a16:creationId xmlns:a16="http://schemas.microsoft.com/office/drawing/2014/main" id="{B945FE83-3A40-27CC-D68D-E889297B8CA2}"/>
              </a:ext>
            </a:extLst>
          </p:cNvPr>
          <p:cNvSpPr>
            <a:spLocks noGrp="1"/>
          </p:cNvSpPr>
          <p:nvPr>
            <p:ph type="sldNum" sz="quarter" idx="14"/>
          </p:nvPr>
        </p:nvSpPr>
        <p:spPr>
          <a:xfrm>
            <a:off x="145716" y="508084"/>
            <a:ext cx="429372" cy="365125"/>
          </a:xfrm>
          <a:noFill/>
        </p:spPr>
        <p:txBody>
          <a:bodyPr/>
          <a:lstStyle/>
          <a:p>
            <a:fld id="{32BAF6E4-81DD-4D1D-A82A-B5B3BA61161D}" type="slidenum">
              <a:rPr lang="es-AR" smtClean="0"/>
              <a:t>‹Nº›</a:t>
            </a:fld>
            <a:endParaRPr lang="es-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a:off x="603663" y="508084"/>
            <a:ext cx="1203320" cy="365125"/>
          </a:xfrm>
          <a:solidFill>
            <a:schemeClr val="bg2"/>
          </a:solidFill>
        </p:spPr>
        <p:txBody>
          <a:bodyPr/>
          <a:lstStyle>
            <a:lvl1pPr algn="l">
              <a:defRPr/>
            </a:lvl1pPr>
          </a:lstStyle>
          <a:p>
            <a:fld id="{A1FA8894-54A6-4349-B0F6-9E5352737AA0}" type="datetimeFigureOut">
              <a:rPr lang="es-AR" smtClean="0"/>
              <a:t>8/10/2026</a:t>
            </a:fld>
            <a:endParaRPr lang="es-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10134603" y="612063"/>
            <a:ext cx="1487296" cy="478334"/>
          </a:xfrm>
          <a:solidFill>
            <a:schemeClr val="bg2"/>
          </a:solidFill>
        </p:spPr>
        <p:txBody>
          <a:bodyPr anchor="t"/>
          <a:lstStyle>
            <a:lvl1pPr algn="r">
              <a:defRPr sz="1050"/>
            </a:lvl1pPr>
          </a:lstStyle>
          <a:p>
            <a:endParaRPr lang="es-AR"/>
          </a:p>
        </p:txBody>
      </p:sp>
    </p:spTree>
    <p:extLst>
      <p:ext uri="{BB962C8B-B14F-4D97-AF65-F5344CB8AC3E}">
        <p14:creationId xmlns:p14="http://schemas.microsoft.com/office/powerpoint/2010/main" val="1512860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33580"/>
            <a:ext cx="0" cy="480029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137159" y="338328"/>
            <a:ext cx="8168640" cy="4462272"/>
          </a:xfrm>
          <a:noFill/>
        </p:spPr>
        <p:txBody>
          <a:bodyPr vert="horz" lIns="91440" tIns="45720" rIns="91440" bIns="137160" rtlCol="0" anchor="t">
            <a:normAutofit/>
          </a:bodyPr>
          <a:lstStyle>
            <a:lvl1pPr>
              <a:lnSpc>
                <a:spcPct val="80000"/>
              </a:lnSpc>
              <a:defRPr lang="en-US" sz="9600" spc="-100" baseline="0" dirty="0">
                <a:solidFill>
                  <a:schemeClr val="accent1"/>
                </a:solidFill>
              </a:defRPr>
            </a:lvl1pPr>
          </a:lstStyle>
          <a:p>
            <a:pPr lvl="0"/>
            <a:r>
              <a:rPr lang="es-ES"/>
              <a:t>Haga clic para modificar el estilo de título del patrón</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8534400" y="4754729"/>
            <a:ext cx="3084441" cy="1080302"/>
          </a:xfrm>
          <a:solidFill>
            <a:schemeClr val="bg2"/>
          </a:solidFill>
        </p:spPr>
        <p:txBody>
          <a:bodyPr vert="horz" lIns="91440" tIns="45720" rIns="91440" bIns="45720" rtlCol="0" anchor="b">
            <a:normAutofit/>
          </a:bodyPr>
          <a:lstStyle>
            <a:lvl1pPr marL="0" indent="0" algn="r">
              <a:buNone/>
              <a:defRPr lang="en-US" sz="1600" cap="all" spc="100" baseline="0" dirty="0">
                <a:solidFill>
                  <a:schemeClr val="accent5"/>
                </a:solidFill>
                <a:latin typeface="+mj-lt"/>
              </a:defRPr>
            </a:lvl1pPr>
          </a:lstStyle>
          <a:p>
            <a:pPr lvl="0"/>
            <a:r>
              <a:rPr lang="es-ES"/>
              <a:t>Haga clic para modificar el estilo de subtítulo del patrón</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144000" y="447579"/>
            <a:ext cx="2477899" cy="586001"/>
          </a:xfrm>
          <a:noFill/>
        </p:spPr>
        <p:txBody>
          <a:bodyPr/>
          <a:lstStyle>
            <a:lvl1pPr algn="r">
              <a:defRPr sz="1050"/>
            </a:lvl1pPr>
          </a:lstStyle>
          <a:p>
            <a:endParaRPr lang="es-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a:lstStyle/>
          <a:p>
            <a:fld id="{A1FA8894-54A6-4349-B0F6-9E5352737AA0}" type="datetimeFigureOut">
              <a:rPr lang="es-AR" smtClean="0"/>
              <a:t>8/10/2026</a:t>
            </a:fld>
            <a:endParaRPr lang="es-AR"/>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a:lstStyle/>
          <a:p>
            <a:fld id="{32BAF6E4-81DD-4D1D-A82A-B5B3BA61161D}" type="slidenum">
              <a:rPr lang="es-AR" smtClean="0"/>
              <a:t>‹Nº›</a:t>
            </a:fld>
            <a:endParaRPr lang="es-AR"/>
          </a:p>
        </p:txBody>
      </p:sp>
    </p:spTree>
    <p:extLst>
      <p:ext uri="{BB962C8B-B14F-4D97-AF65-F5344CB8AC3E}">
        <p14:creationId xmlns:p14="http://schemas.microsoft.com/office/powerpoint/2010/main" val="2936240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ncabezado de secció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D3069F5-8FDE-3652-E906-3619BF9A5D9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B286"/>
              </a:solidFill>
            </a:endParaRPr>
          </a:p>
        </p:txBody>
      </p:sp>
      <p:cxnSp>
        <p:nvCxnSpPr>
          <p:cNvPr id="8" name="Straight Connector 7">
            <a:extLst>
              <a:ext uri="{FF2B5EF4-FFF2-40B4-BE49-F238E27FC236}">
                <a16:creationId xmlns:a16="http://schemas.microsoft.com/office/drawing/2014/main" id="{7F3E913D-4F8E-6F1A-DB89-A9E5CB7D266C}"/>
              </a:ext>
              <a:ext uri="{C183D7F6-B498-43B3-948B-1728B52AA6E4}">
                <adec:decorative xmlns:adec="http://schemas.microsoft.com/office/drawing/2017/decorative" val="1"/>
              </a:ext>
            </a:extLst>
          </p:cNvPr>
          <p:cNvCxnSpPr>
            <a:cxnSpLocks/>
          </p:cNvCxnSpPr>
          <p:nvPr/>
        </p:nvCxnSpPr>
        <p:spPr>
          <a:xfrm flipH="1">
            <a:off x="926297" y="6172185"/>
            <a:ext cx="10326757" cy="0"/>
          </a:xfrm>
          <a:prstGeom prst="line">
            <a:avLst/>
          </a:prstGeom>
          <a:ln w="12700">
            <a:solidFill>
              <a:schemeClr val="bg2">
                <a:alpha val="47000"/>
              </a:schemeClr>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15478846-46FB-2BEE-98D6-C903223E25CA}"/>
              </a:ext>
            </a:extLst>
          </p:cNvPr>
          <p:cNvSpPr>
            <a:spLocks noGrp="1"/>
          </p:cNvSpPr>
          <p:nvPr>
            <p:ph type="title" hasCustomPrompt="1"/>
          </p:nvPr>
        </p:nvSpPr>
        <p:spPr>
          <a:xfrm>
            <a:off x="128016" y="365760"/>
            <a:ext cx="11534790" cy="5525653"/>
          </a:xfrm>
          <a:noFill/>
        </p:spPr>
        <p:txBody>
          <a:bodyPr anchor="t">
            <a:normAutofit/>
          </a:bodyPr>
          <a:lstStyle>
            <a:lvl1pPr>
              <a:defRPr sz="11500" baseline="0">
                <a:ln>
                  <a:solidFill>
                    <a:schemeClr val="bg1"/>
                  </a:solidFill>
                </a:ln>
                <a:solidFill>
                  <a:schemeClr val="accent1"/>
                </a:solidFill>
              </a:defRPr>
            </a:lvl1pPr>
          </a:lstStyle>
          <a:p>
            <a:r>
              <a:rPr lang="en-US" dirty="0"/>
              <a:t>Section Header</a:t>
            </a:r>
          </a:p>
        </p:txBody>
      </p:sp>
      <p:sp>
        <p:nvSpPr>
          <p:cNvPr id="5" name="Footer Placeholder 4">
            <a:extLst>
              <a:ext uri="{FF2B5EF4-FFF2-40B4-BE49-F238E27FC236}">
                <a16:creationId xmlns:a16="http://schemas.microsoft.com/office/drawing/2014/main" id="{37A8544F-8D58-BFED-5A2B-2F718BA6F4F4}"/>
              </a:ext>
            </a:extLst>
          </p:cNvPr>
          <p:cNvSpPr>
            <a:spLocks noGrp="1"/>
          </p:cNvSpPr>
          <p:nvPr>
            <p:ph type="ftr" sz="quarter" idx="11"/>
          </p:nvPr>
        </p:nvSpPr>
        <p:spPr>
          <a:solidFill>
            <a:schemeClr val="accent1"/>
          </a:solidFill>
        </p:spPr>
        <p:txBody>
          <a:bodyPr/>
          <a:lstStyle>
            <a:lvl1pPr>
              <a:defRPr>
                <a:solidFill>
                  <a:schemeClr val="bg1"/>
                </a:solidFill>
              </a:defRPr>
            </a:lvl1pPr>
          </a:lstStyle>
          <a:p>
            <a:endParaRPr lang="es-AR"/>
          </a:p>
        </p:txBody>
      </p:sp>
      <p:sp>
        <p:nvSpPr>
          <p:cNvPr id="4" name="Date Placeholder 3">
            <a:extLst>
              <a:ext uri="{FF2B5EF4-FFF2-40B4-BE49-F238E27FC236}">
                <a16:creationId xmlns:a16="http://schemas.microsoft.com/office/drawing/2014/main" id="{AB70139D-4890-4E0D-B3FD-098A02AB4ADF}"/>
              </a:ext>
            </a:extLst>
          </p:cNvPr>
          <p:cNvSpPr>
            <a:spLocks noGrp="1"/>
          </p:cNvSpPr>
          <p:nvPr>
            <p:ph type="dt" sz="half" idx="10"/>
          </p:nvPr>
        </p:nvSpPr>
        <p:spPr>
          <a:solidFill>
            <a:schemeClr val="accent1"/>
          </a:solidFill>
        </p:spPr>
        <p:txBody>
          <a:bodyPr/>
          <a:lstStyle>
            <a:lvl1pPr>
              <a:defRPr>
                <a:solidFill>
                  <a:schemeClr val="bg1"/>
                </a:solidFill>
              </a:defRPr>
            </a:lvl1pPr>
          </a:lstStyle>
          <a:p>
            <a:fld id="{A1FA8894-54A6-4349-B0F6-9E5352737AA0}" type="datetimeFigureOut">
              <a:rPr lang="es-AR" smtClean="0"/>
              <a:t>8/10/2026</a:t>
            </a:fld>
            <a:endParaRPr lang="es-AR"/>
          </a:p>
        </p:txBody>
      </p:sp>
      <p:sp>
        <p:nvSpPr>
          <p:cNvPr id="6" name="Slide Number Placeholder 5">
            <a:extLst>
              <a:ext uri="{FF2B5EF4-FFF2-40B4-BE49-F238E27FC236}">
                <a16:creationId xmlns:a16="http://schemas.microsoft.com/office/drawing/2014/main" id="{BA1CD1DB-3989-A34F-B5F7-DF66E018CF83}"/>
              </a:ext>
            </a:extLst>
          </p:cNvPr>
          <p:cNvSpPr>
            <a:spLocks noGrp="1"/>
          </p:cNvSpPr>
          <p:nvPr>
            <p:ph type="sldNum" sz="quarter" idx="12"/>
          </p:nvPr>
        </p:nvSpPr>
        <p:spPr>
          <a:solidFill>
            <a:schemeClr val="accent1"/>
          </a:solidFill>
        </p:spPr>
        <p:txBody>
          <a:bodyPr/>
          <a:lstStyle>
            <a:lvl1pPr>
              <a:defRPr>
                <a:solidFill>
                  <a:schemeClr val="bg1"/>
                </a:solidFill>
              </a:defRPr>
            </a:lvl1pPr>
          </a:lstStyle>
          <a:p>
            <a:fld id="{32BAF6E4-81DD-4D1D-A82A-B5B3BA61161D}" type="slidenum">
              <a:rPr lang="es-AR" smtClean="0"/>
              <a:t>‹Nº›</a:t>
            </a:fld>
            <a:endParaRPr lang="es-AR"/>
          </a:p>
        </p:txBody>
      </p:sp>
    </p:spTree>
    <p:extLst>
      <p:ext uri="{BB962C8B-B14F-4D97-AF65-F5344CB8AC3E}">
        <p14:creationId xmlns:p14="http://schemas.microsoft.com/office/powerpoint/2010/main" val="6973183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H="1">
            <a:off x="1321906" y="685800"/>
            <a:ext cx="10184294" cy="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4724403" y="2043904"/>
            <a:ext cx="7467597" cy="48140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rot="16200000">
            <a:off x="-1406175" y="2720396"/>
            <a:ext cx="5645423" cy="2494309"/>
          </a:xfrm>
          <a:solidFill>
            <a:schemeClr val="bg2">
              <a:lumMod val="90000"/>
            </a:schemeClr>
          </a:solidFill>
        </p:spPr>
        <p:txBody>
          <a:bodyPr vert="horz" lIns="91440" tIns="45720" rIns="91440" bIns="137160" rtlCol="0" anchor="t">
            <a:normAutofit/>
          </a:bodyPr>
          <a:lstStyle>
            <a:lvl1pPr>
              <a:defRPr lang="en-US" sz="12000" dirty="0">
                <a:solidFill>
                  <a:schemeClr val="accent2"/>
                </a:solidFill>
              </a:defRPr>
            </a:lvl1pPr>
          </a:lstStyle>
          <a:p>
            <a:pPr lvl="0"/>
            <a:r>
              <a:rPr lang="en-US" dirty="0"/>
              <a:t>Agenda</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586410" y="569843"/>
            <a:ext cx="1470992" cy="541698"/>
          </a:xfrm>
          <a:solidFill>
            <a:schemeClr val="bg2">
              <a:lumMod val="90000"/>
            </a:schemeClr>
          </a:solidFill>
        </p:spPr>
        <p:txBody>
          <a:bodyPr anchor="t"/>
          <a:lstStyle>
            <a:lvl1pPr algn="l">
              <a:defRPr sz="1050"/>
            </a:lvl1pPr>
          </a:lstStyle>
          <a:p>
            <a:endParaRPr lang="es-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10198" y="2743202"/>
            <a:ext cx="6096001" cy="3467098"/>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413627"/>
            <a:ext cx="1256738" cy="545500"/>
          </a:xfrm>
          <a:solidFill>
            <a:schemeClr val="bg2">
              <a:lumMod val="90000"/>
            </a:schemeClr>
          </a:solidFill>
        </p:spPr>
        <p:txBody>
          <a:bodyPr/>
          <a:lstStyle/>
          <a:p>
            <a:fld id="{A1FA8894-54A6-4349-B0F6-9E5352737AA0}" type="datetimeFigureOut">
              <a:rPr lang="es-AR" smtClean="0"/>
              <a:t>8/10/2026</a:t>
            </a:fld>
            <a:endParaRPr lang="es-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413627"/>
            <a:ext cx="429372" cy="545500"/>
          </a:xfrm>
          <a:solidFill>
            <a:schemeClr val="bg2">
              <a:lumMod val="90000"/>
            </a:schemeClr>
          </a:solidFill>
        </p:spPr>
        <p:txBody>
          <a:bodyPr/>
          <a:lstStyle/>
          <a:p>
            <a:fld id="{32BAF6E4-81DD-4D1D-A82A-B5B3BA61161D}" type="slidenum">
              <a:rPr lang="es-AR" smtClean="0"/>
              <a:t>‹Nº›</a:t>
            </a:fld>
            <a:endParaRPr lang="es-AR"/>
          </a:p>
        </p:txBody>
      </p:sp>
    </p:spTree>
    <p:extLst>
      <p:ext uri="{BB962C8B-B14F-4D97-AF65-F5344CB8AC3E}">
        <p14:creationId xmlns:p14="http://schemas.microsoft.com/office/powerpoint/2010/main" val="120410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1371603" y="3415504"/>
            <a:ext cx="10820397" cy="3442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V="1">
            <a:off x="11506200" y="1113182"/>
            <a:ext cx="0" cy="170401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46306" y="182880"/>
            <a:ext cx="7930892" cy="2238587"/>
          </a:xfrm>
          <a:noFill/>
        </p:spPr>
        <p:txBody>
          <a:bodyPr anchor="t">
            <a:normAutofit/>
          </a:bodyPr>
          <a:lstStyle>
            <a:lvl1pPr>
              <a:defRPr sz="12000" spc="-50" baseline="0">
                <a:solidFill>
                  <a:schemeClr val="accent2"/>
                </a:solidFill>
              </a:defRPr>
            </a:lvl1pPr>
          </a:lstStyle>
          <a:p>
            <a:r>
              <a:rPr lang="en-US" dirty="0"/>
              <a:t>Agenda</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1804946" y="3840480"/>
            <a:ext cx="6543924" cy="2536466"/>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10134611" y="612381"/>
            <a:ext cx="1484228" cy="479352"/>
          </a:xfrm>
          <a:noFill/>
        </p:spPr>
        <p:txBody>
          <a:bodyPr anchor="t"/>
          <a:lstStyle>
            <a:lvl1pPr algn="r">
              <a:defRPr sz="1050"/>
            </a:lvl1pPr>
          </a:lstStyle>
          <a:p>
            <a:endParaRPr lang="es-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33512" y="2756699"/>
            <a:ext cx="1256738" cy="423823"/>
          </a:xfrm>
          <a:solidFill>
            <a:schemeClr val="bg2">
              <a:lumMod val="90000"/>
            </a:schemeClr>
          </a:solidFill>
        </p:spPr>
        <p:txBody>
          <a:bodyPr anchor="ctr"/>
          <a:lstStyle>
            <a:lvl1pPr algn="r">
              <a:defRPr/>
            </a:lvl1pPr>
          </a:lstStyle>
          <a:p>
            <a:fld id="{A1FA8894-54A6-4349-B0F6-9E5352737AA0}" type="datetimeFigureOut">
              <a:rPr lang="es-AR" smtClean="0"/>
              <a:t>8/10/2026</a:t>
            </a:fld>
            <a:endParaRPr lang="es-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10544" y="2756699"/>
            <a:ext cx="429372" cy="423823"/>
          </a:xfrm>
          <a:solidFill>
            <a:schemeClr val="bg2">
              <a:lumMod val="90000"/>
            </a:schemeClr>
          </a:solidFill>
        </p:spPr>
        <p:txBody>
          <a:bodyPr/>
          <a:lstStyle/>
          <a:p>
            <a:fld id="{32BAF6E4-81DD-4D1D-A82A-B5B3BA61161D}" type="slidenum">
              <a:rPr lang="es-AR" smtClean="0"/>
              <a:t>‹Nº›</a:t>
            </a:fld>
            <a:endParaRPr lang="es-AR"/>
          </a:p>
        </p:txBody>
      </p:sp>
      <p:sp>
        <p:nvSpPr>
          <p:cNvPr id="14" name="Picture Placeholder 13">
            <a:extLst>
              <a:ext uri="{FF2B5EF4-FFF2-40B4-BE49-F238E27FC236}">
                <a16:creationId xmlns:a16="http://schemas.microsoft.com/office/drawing/2014/main" id="{1DA62460-475C-38E7-135D-916B98438D09}"/>
              </a:ext>
            </a:extLst>
          </p:cNvPr>
          <p:cNvSpPr>
            <a:spLocks noGrp="1"/>
          </p:cNvSpPr>
          <p:nvPr>
            <p:ph type="pic" sz="quarter" idx="13" hasCustomPrompt="1"/>
          </p:nvPr>
        </p:nvSpPr>
        <p:spPr>
          <a:xfrm>
            <a:off x="8763000" y="3415504"/>
            <a:ext cx="3429000" cy="3442496"/>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9198922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1" y="2057399"/>
            <a:ext cx="3429000" cy="1868557"/>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86400" y="2057401"/>
            <a:ext cx="4648200" cy="2743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s-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A1FA8894-54A6-4349-B0F6-9E5352737AA0}" type="datetimeFigureOut">
              <a:rPr lang="es-AR" smtClean="0"/>
              <a:t>8/10/2026</a:t>
            </a:fld>
            <a:endParaRPr lang="es-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32BAF6E4-81DD-4D1D-A82A-B5B3BA61161D}" type="slidenum">
              <a:rPr lang="es-AR" smtClean="0"/>
              <a:t>‹Nº›</a:t>
            </a:fld>
            <a:endParaRPr lang="es-AR"/>
          </a:p>
        </p:txBody>
      </p:sp>
    </p:spTree>
    <p:extLst>
      <p:ext uri="{BB962C8B-B14F-4D97-AF65-F5344CB8AC3E}">
        <p14:creationId xmlns:p14="http://schemas.microsoft.com/office/powerpoint/2010/main" val="36285106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31915"/>
            <a:ext cx="3968496" cy="1494845"/>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090020" y="1001865"/>
            <a:ext cx="6416180" cy="468331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s-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7"/>
            <a:ext cx="1179576" cy="365125"/>
          </a:xfrm>
        </p:spPr>
        <p:txBody>
          <a:bodyPr/>
          <a:lstStyle/>
          <a:p>
            <a:fld id="{A1FA8894-54A6-4349-B0F6-9E5352737AA0}" type="datetimeFigureOut">
              <a:rPr lang="es-AR" smtClean="0"/>
              <a:t>8/10/2026</a:t>
            </a:fld>
            <a:endParaRPr lang="es-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32BAF6E4-81DD-4D1D-A82A-B5B3BA61161D}" type="slidenum">
              <a:rPr lang="es-AR" smtClean="0"/>
              <a:t>‹Nº›</a:t>
            </a:fld>
            <a:endParaRPr lang="es-AR"/>
          </a:p>
        </p:txBody>
      </p:sp>
    </p:spTree>
    <p:extLst>
      <p:ext uri="{BB962C8B-B14F-4D97-AF65-F5344CB8AC3E}">
        <p14:creationId xmlns:p14="http://schemas.microsoft.com/office/powerpoint/2010/main" val="1485596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3124200" cy="68580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2438400" y="0"/>
            <a:ext cx="7391400" cy="1207008"/>
          </a:xfrm>
        </p:spPr>
        <p:txBody>
          <a:bodyPr lIns="137160" tIns="137160" bIns="91440" anchor="b"/>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3733800" y="1367622"/>
            <a:ext cx="7929006" cy="447754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cxnSp>
        <p:nvCxnSpPr>
          <p:cNvPr id="10" name="Straight Connector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a:off x="3810000" y="6210300"/>
            <a:ext cx="76962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3657601" y="6029868"/>
            <a:ext cx="2024542" cy="365125"/>
          </a:xfrm>
        </p:spPr>
        <p:txBody>
          <a:bodyPr/>
          <a:lstStyle/>
          <a:p>
            <a:endParaRPr lang="es-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A1FA8894-54A6-4349-B0F6-9E5352737AA0}" type="datetimeFigureOut">
              <a:rPr lang="es-AR" smtClean="0"/>
              <a:t>8/10/2026</a:t>
            </a:fld>
            <a:endParaRPr lang="es-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32BAF6E4-81DD-4D1D-A82A-B5B3BA61161D}" type="slidenum">
              <a:rPr lang="es-AR" smtClean="0"/>
              <a:t>‹Nº›</a:t>
            </a:fld>
            <a:endParaRPr lang="es-AR"/>
          </a:p>
        </p:txBody>
      </p:sp>
    </p:spTree>
    <p:extLst>
      <p:ext uri="{BB962C8B-B14F-4D97-AF65-F5344CB8AC3E}">
        <p14:creationId xmlns:p14="http://schemas.microsoft.com/office/powerpoint/2010/main" val="3353155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5486400" cy="55626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5063318" y="0"/>
            <a:ext cx="4385481" cy="1796124"/>
          </a:xfrm>
        </p:spPr>
        <p:txBody>
          <a:bodyPr lIns="137160"/>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5056" y="1965281"/>
            <a:ext cx="4859992" cy="373287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s-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A1FA8894-54A6-4349-B0F6-9E5352737AA0}" type="datetimeFigureOut">
              <a:rPr lang="es-AR" smtClean="0"/>
              <a:t>8/10/2026</a:t>
            </a:fld>
            <a:endParaRPr lang="es-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32BAF6E4-81DD-4D1D-A82A-B5B3BA61161D}" type="slidenum">
              <a:rPr lang="es-AR" smtClean="0"/>
              <a:t>‹Nº›</a:t>
            </a:fld>
            <a:endParaRPr lang="es-AR"/>
          </a:p>
        </p:txBody>
      </p:sp>
    </p:spTree>
    <p:extLst>
      <p:ext uri="{BB962C8B-B14F-4D97-AF65-F5344CB8AC3E}">
        <p14:creationId xmlns:p14="http://schemas.microsoft.com/office/powerpoint/2010/main" val="22105745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99475"/>
            <a:ext cx="3625442" cy="1474692"/>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2124222"/>
            <a:ext cx="3567404" cy="34887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4800601" y="0"/>
            <a:ext cx="7391400" cy="5562600"/>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s-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A1FA8894-54A6-4349-B0F6-9E5352737AA0}" type="datetimeFigureOut">
              <a:rPr lang="es-AR" smtClean="0"/>
              <a:t>8/10/2026</a:t>
            </a:fld>
            <a:endParaRPr lang="es-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32BAF6E4-81DD-4D1D-A82A-B5B3BA61161D}" type="slidenum">
              <a:rPr lang="es-AR" smtClean="0"/>
              <a:t>‹Nº›</a:t>
            </a:fld>
            <a:endParaRPr lang="es-AR"/>
          </a:p>
        </p:txBody>
      </p:sp>
    </p:spTree>
    <p:extLst>
      <p:ext uri="{BB962C8B-B14F-4D97-AF65-F5344CB8AC3E}">
        <p14:creationId xmlns:p14="http://schemas.microsoft.com/office/powerpoint/2010/main" val="10519401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30047"/>
            <a:ext cx="4939005" cy="1166270"/>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1746792"/>
            <a:ext cx="5776896" cy="39694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7391400" y="0"/>
            <a:ext cx="4800600" cy="5562600"/>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s-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A1FA8894-54A6-4349-B0F6-9E5352737AA0}" type="datetimeFigureOut">
              <a:rPr lang="es-AR" smtClean="0"/>
              <a:t>8/10/2026</a:t>
            </a:fld>
            <a:endParaRPr lang="es-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32BAF6E4-81DD-4D1D-A82A-B5B3BA61161D}" type="slidenum">
              <a:rPr lang="es-AR" smtClean="0"/>
              <a:t>‹Nº›</a:t>
            </a:fld>
            <a:endParaRPr lang="es-AR"/>
          </a:p>
        </p:txBody>
      </p:sp>
    </p:spTree>
    <p:extLst>
      <p:ext uri="{BB962C8B-B14F-4D97-AF65-F5344CB8AC3E}">
        <p14:creationId xmlns:p14="http://schemas.microsoft.com/office/powerpoint/2010/main" val="13142064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7848600" cy="68580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7450456" y="0"/>
            <a:ext cx="4142830" cy="1978681"/>
          </a:xfrm>
        </p:spPr>
        <p:txBody>
          <a:bodyPr lIns="137160"/>
          <a:lstStyle>
            <a:lvl1pPr>
              <a:defRPr/>
            </a:lvl1pPr>
          </a:lstStyle>
          <a:p>
            <a:r>
              <a:rPr lang="es-ES"/>
              <a:t>Haga clic para modificar el estilo de título del patrón</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8442196" y="2112973"/>
            <a:ext cx="3151090" cy="367822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8439912" y="6029868"/>
            <a:ext cx="1911096" cy="365125"/>
          </a:xfrm>
          <a:noFill/>
        </p:spPr>
        <p:txBody>
          <a:bodyPr/>
          <a:lstStyle/>
          <a:p>
            <a:endParaRPr lang="es-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351008" y="6029868"/>
            <a:ext cx="890077" cy="365125"/>
          </a:xfrm>
          <a:noFill/>
        </p:spPr>
        <p:txBody>
          <a:bodyPr/>
          <a:lstStyle/>
          <a:p>
            <a:fld id="{A1FA8894-54A6-4349-B0F6-9E5352737AA0}" type="datetimeFigureOut">
              <a:rPr lang="es-AR" smtClean="0"/>
              <a:t>8/10/2026</a:t>
            </a:fld>
            <a:endParaRPr lang="es-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32BAF6E4-81DD-4D1D-A82A-B5B3BA61161D}" type="slidenum">
              <a:rPr lang="es-AR" smtClean="0"/>
              <a:t>‹Nº›</a:t>
            </a:fld>
            <a:endParaRPr lang="es-AR"/>
          </a:p>
        </p:txBody>
      </p:sp>
    </p:spTree>
    <p:extLst>
      <p:ext uri="{BB962C8B-B14F-4D97-AF65-F5344CB8AC3E}">
        <p14:creationId xmlns:p14="http://schemas.microsoft.com/office/powerpoint/2010/main" val="2350171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EEB1BA68-9980-8CBB-7BAF-A1D760EB21EC}"/>
              </a:ext>
            </a:extLst>
          </p:cNvPr>
          <p:cNvSpPr>
            <a:spLocks noGrp="1"/>
          </p:cNvSpPr>
          <p:nvPr>
            <p:ph type="pic" sz="quarter" idx="13" hasCustomPrompt="1"/>
          </p:nvPr>
        </p:nvSpPr>
        <p:spPr>
          <a:xfrm>
            <a:off x="0" y="1"/>
            <a:ext cx="12192000" cy="6858000"/>
          </a:xfrm>
          <a:custGeom>
            <a:avLst/>
            <a:gdLst>
              <a:gd name="connsiteX0" fmla="*/ 480060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5562599 h 6858000"/>
              <a:gd name="connsiteX5" fmla="*/ 4800600 w 12192000"/>
              <a:gd name="connsiteY5" fmla="*/ 55625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4800600" y="0"/>
                </a:moveTo>
                <a:lnTo>
                  <a:pt x="12192000" y="0"/>
                </a:lnTo>
                <a:lnTo>
                  <a:pt x="12192000" y="6858000"/>
                </a:lnTo>
                <a:lnTo>
                  <a:pt x="0" y="6858000"/>
                </a:lnTo>
                <a:lnTo>
                  <a:pt x="0" y="5562599"/>
                </a:lnTo>
                <a:lnTo>
                  <a:pt x="4800600" y="5562599"/>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01376"/>
            <a:ext cx="3601122" cy="1362458"/>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504" y="2496848"/>
            <a:ext cx="3601122" cy="23037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3504" y="503237"/>
            <a:ext cx="1907799" cy="365125"/>
          </a:xfrm>
          <a:noFill/>
        </p:spPr>
        <p:txBody>
          <a:bodyPr/>
          <a:lstStyle>
            <a:lvl1pPr algn="l">
              <a:defRPr/>
            </a:lvl1pPr>
          </a:lstStyle>
          <a:p>
            <a:endParaRPr lang="es-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603504" y="4800600"/>
            <a:ext cx="1256738" cy="365125"/>
          </a:xfrm>
          <a:noFill/>
        </p:spPr>
        <p:txBody>
          <a:bodyPr/>
          <a:lstStyle>
            <a:lvl1pPr algn="l">
              <a:defRPr/>
            </a:lvl1pPr>
          </a:lstStyle>
          <a:p>
            <a:fld id="{A1FA8894-54A6-4349-B0F6-9E5352737AA0}" type="datetimeFigureOut">
              <a:rPr lang="es-AR" smtClean="0"/>
              <a:t>8/10/2026</a:t>
            </a:fld>
            <a:endParaRPr lang="es-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3947641" y="4800600"/>
            <a:ext cx="429372" cy="365125"/>
          </a:xfrm>
          <a:noFill/>
        </p:spPr>
        <p:txBody>
          <a:bodyPr/>
          <a:lstStyle/>
          <a:p>
            <a:fld id="{32BAF6E4-81DD-4D1D-A82A-B5B3BA61161D}" type="slidenum">
              <a:rPr lang="es-AR" smtClean="0"/>
              <a:t>‹Nº›</a:t>
            </a:fld>
            <a:endParaRPr lang="es-AR"/>
          </a:p>
        </p:txBody>
      </p:sp>
    </p:spTree>
    <p:extLst>
      <p:ext uri="{BB962C8B-B14F-4D97-AF65-F5344CB8AC3E}">
        <p14:creationId xmlns:p14="http://schemas.microsoft.com/office/powerpoint/2010/main" val="2354798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673955"/>
            <a:ext cx="3154680" cy="1287913"/>
          </a:xfrm>
          <a:noFill/>
        </p:spPr>
        <p:txBody>
          <a:bodyPr anchor="t"/>
          <a:lstStyle>
            <a:lvl1pPr>
              <a:defRPr/>
            </a:lvl1pPr>
          </a:lstStyle>
          <a:p>
            <a:r>
              <a:rPr lang="en-US" dirty="0"/>
              <a:t>Click to Edit Master Title style</a:t>
            </a:r>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0" y="0"/>
            <a:ext cx="12191999" cy="4114800"/>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114800" y="4647060"/>
            <a:ext cx="7552114" cy="1382807"/>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a:lstStyle/>
          <a:p>
            <a:endParaRPr lang="es-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noFill/>
        </p:spPr>
        <p:txBody>
          <a:bodyPr/>
          <a:lstStyle/>
          <a:p>
            <a:fld id="{A1FA8894-54A6-4349-B0F6-9E5352737AA0}" type="datetimeFigureOut">
              <a:rPr lang="es-AR" smtClean="0"/>
              <a:t>8/10/2026</a:t>
            </a:fld>
            <a:endParaRPr lang="es-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7542" y="6029868"/>
            <a:ext cx="429372" cy="365125"/>
          </a:xfrm>
          <a:noFill/>
        </p:spPr>
        <p:txBody>
          <a:bodyPr/>
          <a:lstStyle/>
          <a:p>
            <a:fld id="{32BAF6E4-81DD-4D1D-A82A-B5B3BA61161D}" type="slidenum">
              <a:rPr lang="es-AR" smtClean="0"/>
              <a:t>‹Nº›</a:t>
            </a:fld>
            <a:endParaRPr lang="es-AR"/>
          </a:p>
        </p:txBody>
      </p:sp>
    </p:spTree>
    <p:extLst>
      <p:ext uri="{BB962C8B-B14F-4D97-AF65-F5344CB8AC3E}">
        <p14:creationId xmlns:p14="http://schemas.microsoft.com/office/powerpoint/2010/main" val="30081038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3505" y="337062"/>
            <a:ext cx="6787898" cy="845931"/>
          </a:xfrm>
        </p:spPr>
        <p:txBody>
          <a:bodyPr tIns="91440" bIns="91440"/>
          <a:lstStyle>
            <a:lvl1pPr>
              <a:defRPr/>
            </a:lvl1pPr>
          </a:lstStyle>
          <a:p>
            <a:r>
              <a:rPr lang="es-ES"/>
              <a:t>Haga clic para modificar el estilo de título del patrón</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05468" y="637706"/>
            <a:ext cx="1907799" cy="365125"/>
          </a:xfrm>
        </p:spPr>
        <p:txBody>
          <a:bodyPr anchor="t"/>
          <a:lstStyle>
            <a:lvl1pPr algn="r">
              <a:defRPr/>
            </a:lvl1pPr>
          </a:lstStyle>
          <a:p>
            <a:endParaRPr lang="es-AR"/>
          </a:p>
        </p:txBody>
      </p:sp>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1371600"/>
            <a:ext cx="7391402" cy="5486400"/>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966163" y="1266737"/>
            <a:ext cx="2894795" cy="476313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A1FA8894-54A6-4349-B0F6-9E5352737AA0}" type="datetimeFigureOut">
              <a:rPr lang="es-AR" smtClean="0"/>
              <a:t>8/10/2026</a:t>
            </a:fld>
            <a:endParaRPr lang="es-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32BAF6E4-81DD-4D1D-A82A-B5B3BA61161D}" type="slidenum">
              <a:rPr lang="es-AR" smtClean="0"/>
              <a:t>‹Nº›</a:t>
            </a:fld>
            <a:endParaRPr lang="es-AR"/>
          </a:p>
        </p:txBody>
      </p:sp>
      <p:cxnSp>
        <p:nvCxnSpPr>
          <p:cNvPr id="12" name="Straight Connector 11">
            <a:extLst>
              <a:ext uri="{FF2B5EF4-FFF2-40B4-BE49-F238E27FC236}">
                <a16:creationId xmlns:a16="http://schemas.microsoft.com/office/drawing/2014/main" id="{DF397562-DA4B-EE6B-8F6C-1CE4F33EBED1}"/>
              </a:ext>
              <a:ext uri="{C183D7F6-B498-43B3-948B-1728B52AA6E4}">
                <adec:decorative xmlns:adec="http://schemas.microsoft.com/office/drawing/2017/decorative" val="1"/>
              </a:ext>
            </a:extLst>
          </p:cNvPr>
          <p:cNvCxnSpPr>
            <a:cxnSpLocks/>
          </p:cNvCxnSpPr>
          <p:nvPr/>
        </p:nvCxnSpPr>
        <p:spPr>
          <a:xfrm>
            <a:off x="11502704" y="1028700"/>
            <a:ext cx="0" cy="480060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63172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1"/>
            <a:ext cx="4800600" cy="4822372"/>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002085" y="4374100"/>
            <a:ext cx="3897905" cy="1380814"/>
          </a:xfrm>
        </p:spPr>
        <p:txBody>
          <a:bodyPr lIns="137160" tIns="137160"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389516" y="685800"/>
            <a:ext cx="5430884" cy="520498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2974" y="6029867"/>
            <a:ext cx="1911096" cy="365126"/>
          </a:xfrm>
          <a:solidFill>
            <a:schemeClr val="bg1"/>
          </a:solidFill>
        </p:spPr>
        <p:txBody>
          <a:bodyPr anchor="ctr"/>
          <a:lstStyle>
            <a:lvl1pPr algn="l">
              <a:defRPr/>
            </a:lvl1pPr>
          </a:lstStyle>
          <a:p>
            <a:endParaRPr lang="es-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solidFill>
            <a:schemeClr val="bg1"/>
          </a:solidFill>
        </p:spPr>
        <p:txBody>
          <a:bodyPr/>
          <a:lstStyle/>
          <a:p>
            <a:fld id="{A1FA8894-54A6-4349-B0F6-9E5352737AA0}" type="datetimeFigureOut">
              <a:rPr lang="es-AR" smtClean="0"/>
              <a:t>8/10/2026</a:t>
            </a:fld>
            <a:endParaRPr lang="es-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32BAF6E4-81DD-4D1D-A82A-B5B3BA61161D}" type="slidenum">
              <a:rPr lang="es-AR" smtClean="0"/>
              <a:t>‹Nº›</a:t>
            </a:fld>
            <a:endParaRPr lang="es-AR"/>
          </a:p>
        </p:txBody>
      </p:sp>
    </p:spTree>
    <p:extLst>
      <p:ext uri="{BB962C8B-B14F-4D97-AF65-F5344CB8AC3E}">
        <p14:creationId xmlns:p14="http://schemas.microsoft.com/office/powerpoint/2010/main" val="18469487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 preserve="1">
  <p:cSld name="Number Lar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4800599" y="5149121"/>
            <a:ext cx="6861107" cy="842527"/>
          </a:xfrm>
          <a:noFill/>
        </p:spPr>
        <p:txBody>
          <a:bodyPr anchor="t"/>
          <a:lstStyle>
            <a:lvl1pPr algn="r">
              <a:defRPr b="0" cap="all" baseline="0">
                <a:solidFill>
                  <a:schemeClr val="accent1"/>
                </a:solidFill>
                <a:effectLst/>
                <a:latin typeface="+mj-lt"/>
              </a:defRPr>
            </a:lvl1pPr>
          </a:lstStyle>
          <a:p>
            <a:r>
              <a:rPr lang="es-ES"/>
              <a:t>Haga clic para modificar el estilo de título del patrón</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6" y="120765"/>
            <a:ext cx="10723000" cy="4260404"/>
          </a:xfrm>
        </p:spPr>
        <p:txBody>
          <a:bodyPr lIns="0" tIns="0" rIns="0" bIns="0" anchor="b">
            <a:normAutofit/>
          </a:bodyPr>
          <a:lstStyle>
            <a:lvl1pPr marL="0" indent="0">
              <a:buNone/>
              <a:defRPr sz="28000" spc="-200" baseline="0">
                <a:solidFill>
                  <a:schemeClr val="accent3"/>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867"/>
            <a:ext cx="2137769" cy="365125"/>
          </a:xfrm>
          <a:noFill/>
        </p:spPr>
        <p:txBody>
          <a:bodyPr/>
          <a:lstStyle>
            <a:lvl1pPr>
              <a:defRPr b="0">
                <a:solidFill>
                  <a:schemeClr val="tx2"/>
                </a:solidFill>
              </a:defRPr>
            </a:lvl1pPr>
          </a:lstStyle>
          <a:p>
            <a:endParaRPr lang="es-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tx2"/>
                </a:solidFill>
              </a:defRPr>
            </a:lvl1pPr>
          </a:lstStyle>
          <a:p>
            <a:fld id="{A1FA8894-54A6-4349-B0F6-9E5352737AA0}" type="datetimeFigureOut">
              <a:rPr lang="es-AR" smtClean="0"/>
              <a:t>8/10/2026</a:t>
            </a:fld>
            <a:endParaRPr lang="es-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tx2"/>
                </a:solidFill>
              </a:defRPr>
            </a:lvl1pPr>
          </a:lstStyle>
          <a:p>
            <a:fld id="{32BAF6E4-81DD-4D1D-A82A-B5B3BA61161D}" type="slidenum">
              <a:rPr lang="es-AR" smtClean="0"/>
              <a:t>‹Nº›</a:t>
            </a:fld>
            <a:endParaRPr lang="es-AR"/>
          </a:p>
        </p:txBody>
      </p:sp>
      <p:cxnSp>
        <p:nvCxnSpPr>
          <p:cNvPr id="9" name="Straight Connector 8">
            <a:extLst>
              <a:ext uri="{FF2B5EF4-FFF2-40B4-BE49-F238E27FC236}">
                <a16:creationId xmlns:a16="http://schemas.microsoft.com/office/drawing/2014/main" id="{838393CD-94B6-EC8A-E14F-A09689A25C51}"/>
              </a:ext>
              <a:ext uri="{C183D7F6-B498-43B3-948B-1728B52AA6E4}">
                <adec:decorative xmlns:adec="http://schemas.microsoft.com/office/drawing/2017/decorative" val="1"/>
              </a:ext>
            </a:extLst>
          </p:cNvPr>
          <p:cNvCxnSpPr>
            <a:cxnSpLocks/>
          </p:cNvCxnSpPr>
          <p:nvPr/>
        </p:nvCxnSpPr>
        <p:spPr>
          <a:xfrm>
            <a:off x="11503594" y="675861"/>
            <a:ext cx="0" cy="418429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44416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Statem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2">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s-ES"/>
              <a:t>Haga clic para modificar el estilo de título del patrón</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1649896"/>
            <a:ext cx="10169921" cy="4949687"/>
          </a:xfrm>
        </p:spPr>
        <p:txBody>
          <a:bodyPr anchor="b">
            <a:normAutofit/>
          </a:bodyPr>
          <a:lstStyle>
            <a:lvl1pPr marL="0" indent="0">
              <a:lnSpc>
                <a:spcPct val="80000"/>
              </a:lnSpc>
              <a:spcBef>
                <a:spcPts val="0"/>
              </a:spcBef>
              <a:buNone/>
              <a:defRPr sz="7200" cap="all" spc="-100" baseline="0">
                <a:solidFill>
                  <a:schemeClr val="accent1"/>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dirty="0"/>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85800"/>
            <a:ext cx="10326757" cy="0"/>
          </a:xfrm>
          <a:prstGeom prst="line">
            <a:avLst/>
          </a:prstGeom>
          <a:ln w="12700">
            <a:solidFill>
              <a:schemeClr val="bg1">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501227"/>
            <a:ext cx="1907799" cy="365125"/>
          </a:xfrm>
          <a:solidFill>
            <a:schemeClr val="accent2">
              <a:lumMod val="60000"/>
              <a:lumOff val="40000"/>
            </a:schemeClr>
          </a:solidFill>
        </p:spPr>
        <p:txBody>
          <a:bodyPr/>
          <a:lstStyle>
            <a:lvl1pPr>
              <a:defRPr b="0" spc="0">
                <a:solidFill>
                  <a:schemeClr val="bg1"/>
                </a:solidFill>
              </a:defRPr>
            </a:lvl1pPr>
          </a:lstStyle>
          <a:p>
            <a:endParaRPr lang="es-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501227"/>
            <a:ext cx="1256738" cy="365125"/>
          </a:xfrm>
          <a:solidFill>
            <a:schemeClr val="accent2">
              <a:lumMod val="60000"/>
              <a:lumOff val="40000"/>
            </a:schemeClr>
          </a:solidFill>
        </p:spPr>
        <p:txBody>
          <a:bodyPr/>
          <a:lstStyle>
            <a:lvl1pPr>
              <a:defRPr>
                <a:solidFill>
                  <a:schemeClr val="bg1"/>
                </a:solidFill>
              </a:defRPr>
            </a:lvl1pPr>
          </a:lstStyle>
          <a:p>
            <a:fld id="{A1FA8894-54A6-4349-B0F6-9E5352737AA0}" type="datetimeFigureOut">
              <a:rPr lang="es-AR" smtClean="0"/>
              <a:t>8/10/2026</a:t>
            </a:fld>
            <a:endParaRPr lang="es-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501227"/>
            <a:ext cx="429372" cy="365125"/>
          </a:xfrm>
          <a:solidFill>
            <a:schemeClr val="accent2">
              <a:lumMod val="60000"/>
              <a:lumOff val="40000"/>
            </a:schemeClr>
          </a:solidFill>
        </p:spPr>
        <p:txBody>
          <a:bodyPr/>
          <a:lstStyle>
            <a:lvl1pPr>
              <a:defRPr>
                <a:solidFill>
                  <a:schemeClr val="bg1"/>
                </a:solidFill>
              </a:defRPr>
            </a:lvl1pPr>
          </a:lstStyle>
          <a:p>
            <a:fld id="{32BAF6E4-81DD-4D1D-A82A-B5B3BA61161D}" type="slidenum">
              <a:rPr lang="es-AR" smtClean="0"/>
              <a:t>‹Nº›</a:t>
            </a:fld>
            <a:endParaRPr lang="es-AR"/>
          </a:p>
        </p:txBody>
      </p:sp>
    </p:spTree>
    <p:extLst>
      <p:ext uri="{BB962C8B-B14F-4D97-AF65-F5344CB8AC3E}">
        <p14:creationId xmlns:p14="http://schemas.microsoft.com/office/powerpoint/2010/main" val="17349460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0" y="0"/>
            <a:ext cx="12191999" cy="6858001"/>
          </a:xfrm>
          <a:prstGeom prst="rect">
            <a:avLst/>
          </a:prstGeom>
          <a:solidFill>
            <a:schemeClr val="accent3">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358D5F78-0179-D9C3-74D3-62CE152FFECE}"/>
              </a:ext>
              <a:ext uri="{C183D7F6-B498-43B3-948B-1728B52AA6E4}">
                <adec:decorative xmlns:adec="http://schemas.microsoft.com/office/drawing/2017/decorative" val="1"/>
              </a:ext>
            </a:extLst>
          </p:cNvPr>
          <p:cNvSpPr/>
          <p:nvPr/>
        </p:nvSpPr>
        <p:spPr>
          <a:xfrm>
            <a:off x="1" y="2"/>
            <a:ext cx="8763000" cy="5038338"/>
          </a:xfrm>
          <a:prstGeom prst="rect">
            <a:avLst/>
          </a:prstGeom>
          <a:solidFill>
            <a:schemeClr val="accent3">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ABB386FE-4A21-B72A-BB2B-D4FDFDC3ECA5}"/>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accent5">
                <a:alpha val="45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D4813FB1-9165-4DD7-C4C2-EAFC20602DB8}"/>
              </a:ext>
            </a:extLst>
          </p:cNvPr>
          <p:cNvSpPr>
            <a:spLocks noGrp="1"/>
          </p:cNvSpPr>
          <p:nvPr>
            <p:ph type="title" hasCustomPrompt="1"/>
          </p:nvPr>
        </p:nvSpPr>
        <p:spPr>
          <a:xfrm>
            <a:off x="4114800" y="5410203"/>
            <a:ext cx="7543800" cy="372746"/>
          </a:xfrm>
          <a:noFill/>
        </p:spPr>
        <p:txBody>
          <a:bodyPr tIns="91440" bIns="91440" anchor="ctr">
            <a:normAutofit/>
          </a:bodyPr>
          <a:lstStyle>
            <a:lvl1pPr algn="r">
              <a:defRPr sz="2000">
                <a:solidFill>
                  <a:schemeClr val="accent1"/>
                </a:solidFill>
              </a:defRPr>
            </a:lvl1pPr>
          </a:lstStyle>
          <a:p>
            <a:r>
              <a:rPr lang="en-US" dirty="0"/>
              <a:t>Quote Author</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725556"/>
            <a:ext cx="8845296" cy="3656168"/>
          </a:xfrm>
        </p:spPr>
        <p:txBody>
          <a:bodyPr>
            <a:normAutofit/>
          </a:bodyPr>
          <a:lstStyle>
            <a:lvl1pPr marL="228600" indent="-228600">
              <a:lnSpc>
                <a:spcPct val="85000"/>
              </a:lnSpc>
              <a:spcBef>
                <a:spcPts val="0"/>
              </a:spcBef>
              <a:buNone/>
              <a:defRPr sz="5800" b="0" cap="all" spc="0" baseline="0">
                <a:solidFill>
                  <a:schemeClr val="accent5"/>
                </a:solidFill>
                <a:latin typeface="+mj-lt"/>
              </a:defRPr>
            </a:lvl1pPr>
          </a:lstStyle>
          <a:p>
            <a:pPr lvl="0"/>
            <a:r>
              <a:rPr lang="en-US" dirty="0"/>
              <a:t>Click to edit quote</a:t>
            </a:r>
          </a:p>
        </p:txBody>
      </p:sp>
      <p:sp>
        <p:nvSpPr>
          <p:cNvPr id="10" name="Footer Placeholder 9">
            <a:extLst>
              <a:ext uri="{FF2B5EF4-FFF2-40B4-BE49-F238E27FC236}">
                <a16:creationId xmlns:a16="http://schemas.microsoft.com/office/drawing/2014/main" id="{94F49A81-8721-B846-5567-52769C04D66C}"/>
              </a:ext>
            </a:extLst>
          </p:cNvPr>
          <p:cNvSpPr>
            <a:spLocks noGrp="1"/>
          </p:cNvSpPr>
          <p:nvPr>
            <p:ph type="ftr" sz="quarter" idx="11"/>
          </p:nvPr>
        </p:nvSpPr>
        <p:spPr>
          <a:xfrm>
            <a:off x="605430" y="6029868"/>
            <a:ext cx="1911096" cy="365125"/>
          </a:xfrm>
          <a:solidFill>
            <a:schemeClr val="accent3">
              <a:lumMod val="60000"/>
              <a:lumOff val="40000"/>
            </a:schemeClr>
          </a:solidFill>
        </p:spPr>
        <p:txBody>
          <a:bodyPr/>
          <a:lstStyle>
            <a:lvl1pPr>
              <a:defRPr b="0">
                <a:solidFill>
                  <a:schemeClr val="accent5"/>
                </a:solidFill>
                <a:latin typeface="+mn-lt"/>
              </a:defRPr>
            </a:lvl1pPr>
          </a:lstStyle>
          <a:p>
            <a:endParaRPr lang="es-AR"/>
          </a:p>
        </p:txBody>
      </p:sp>
      <p:sp>
        <p:nvSpPr>
          <p:cNvPr id="9" name="Date Placeholder 8">
            <a:extLst>
              <a:ext uri="{FF2B5EF4-FFF2-40B4-BE49-F238E27FC236}">
                <a16:creationId xmlns:a16="http://schemas.microsoft.com/office/drawing/2014/main" id="{FB3E54B7-FFB1-7BFC-0189-A17360728C52}"/>
              </a:ext>
            </a:extLst>
          </p:cNvPr>
          <p:cNvSpPr>
            <a:spLocks noGrp="1"/>
          </p:cNvSpPr>
          <p:nvPr>
            <p:ph type="dt" sz="half" idx="10"/>
          </p:nvPr>
        </p:nvSpPr>
        <p:spPr>
          <a:xfrm>
            <a:off x="9802368" y="6029868"/>
            <a:ext cx="1435608" cy="365125"/>
          </a:xfrm>
          <a:solidFill>
            <a:schemeClr val="accent3">
              <a:lumMod val="60000"/>
              <a:lumOff val="40000"/>
            </a:schemeClr>
          </a:solidFill>
        </p:spPr>
        <p:txBody>
          <a:bodyPr/>
          <a:lstStyle>
            <a:lvl1pPr>
              <a:defRPr b="0">
                <a:solidFill>
                  <a:schemeClr val="accent5"/>
                </a:solidFill>
                <a:latin typeface="+mn-lt"/>
              </a:defRPr>
            </a:lvl1pPr>
          </a:lstStyle>
          <a:p>
            <a:fld id="{A1FA8894-54A6-4349-B0F6-9E5352737AA0}" type="datetimeFigureOut">
              <a:rPr lang="es-AR" smtClean="0"/>
              <a:t>8/10/2026</a:t>
            </a:fld>
            <a:endParaRPr lang="es-AR"/>
          </a:p>
        </p:txBody>
      </p:sp>
      <p:sp>
        <p:nvSpPr>
          <p:cNvPr id="11" name="Slide Number Placeholder 10">
            <a:extLst>
              <a:ext uri="{FF2B5EF4-FFF2-40B4-BE49-F238E27FC236}">
                <a16:creationId xmlns:a16="http://schemas.microsoft.com/office/drawing/2014/main" id="{D1DF2706-0EDF-0D3B-C01B-613E7D1BB6CC}"/>
              </a:ext>
            </a:extLst>
          </p:cNvPr>
          <p:cNvSpPr>
            <a:spLocks noGrp="1"/>
          </p:cNvSpPr>
          <p:nvPr>
            <p:ph type="sldNum" sz="quarter" idx="12"/>
          </p:nvPr>
        </p:nvSpPr>
        <p:spPr>
          <a:solidFill>
            <a:schemeClr val="accent3">
              <a:lumMod val="60000"/>
              <a:lumOff val="40000"/>
            </a:schemeClr>
          </a:solidFill>
        </p:spPr>
        <p:txBody>
          <a:bodyPr/>
          <a:lstStyle>
            <a:lvl1pPr>
              <a:defRPr b="0">
                <a:solidFill>
                  <a:schemeClr val="accent5"/>
                </a:solidFill>
                <a:latin typeface="+mn-lt"/>
              </a:defRPr>
            </a:lvl1pPr>
          </a:lstStyle>
          <a:p>
            <a:fld id="{32BAF6E4-81DD-4D1D-A82A-B5B3BA61161D}" type="slidenum">
              <a:rPr lang="es-AR" smtClean="0"/>
              <a:t>‹Nº›</a:t>
            </a:fld>
            <a:endParaRPr lang="es-AR"/>
          </a:p>
        </p:txBody>
      </p:sp>
    </p:spTree>
    <p:extLst>
      <p:ext uri="{BB962C8B-B14F-4D97-AF65-F5344CB8AC3E}">
        <p14:creationId xmlns:p14="http://schemas.microsoft.com/office/powerpoint/2010/main" val="34190821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50773-1259-8F51-3561-DF3A80B264DE}"/>
              </a:ext>
            </a:extLst>
          </p:cNvPr>
          <p:cNvSpPr>
            <a:spLocks noGrp="1"/>
          </p:cNvSpPr>
          <p:nvPr>
            <p:ph type="title"/>
          </p:nvPr>
        </p:nvSpPr>
        <p:spPr>
          <a:xfrm>
            <a:off x="603504" y="521185"/>
            <a:ext cx="10902696" cy="1070849"/>
          </a:xfrm>
          <a:noFill/>
        </p:spPr>
        <p:txBody>
          <a:bodyPr/>
          <a:lstStyle/>
          <a:p>
            <a:r>
              <a:rPr lang="es-ES"/>
              <a:t>Haga clic para modificar el estilo de título del patrón</a:t>
            </a:r>
            <a:endParaRPr lang="en-US" dirty="0"/>
          </a:p>
        </p:txBody>
      </p:sp>
      <p:sp>
        <p:nvSpPr>
          <p:cNvPr id="3" name="Content Placeholder 2">
            <a:extLst>
              <a:ext uri="{FF2B5EF4-FFF2-40B4-BE49-F238E27FC236}">
                <a16:creationId xmlns:a16="http://schemas.microsoft.com/office/drawing/2014/main" id="{F9C966CF-BE4B-28C8-6D17-E087E97C0E98}"/>
              </a:ext>
            </a:extLst>
          </p:cNvPr>
          <p:cNvSpPr>
            <a:spLocks noGrp="1"/>
          </p:cNvSpPr>
          <p:nvPr>
            <p:ph sz="half" idx="1"/>
          </p:nvPr>
        </p:nvSpPr>
        <p:spPr>
          <a:xfrm>
            <a:off x="605431" y="1756230"/>
            <a:ext cx="5181600" cy="403496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a:extLst>
              <a:ext uri="{FF2B5EF4-FFF2-40B4-BE49-F238E27FC236}">
                <a16:creationId xmlns:a16="http://schemas.microsoft.com/office/drawing/2014/main" id="{41559437-5037-4EE7-88FA-80C5AA0870F2}"/>
              </a:ext>
            </a:extLst>
          </p:cNvPr>
          <p:cNvSpPr>
            <a:spLocks noGrp="1"/>
          </p:cNvSpPr>
          <p:nvPr>
            <p:ph sz="half" idx="2"/>
          </p:nvPr>
        </p:nvSpPr>
        <p:spPr>
          <a:xfrm>
            <a:off x="6324600" y="1756230"/>
            <a:ext cx="5181600" cy="403496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6" name="Footer Placeholder 5">
            <a:extLst>
              <a:ext uri="{FF2B5EF4-FFF2-40B4-BE49-F238E27FC236}">
                <a16:creationId xmlns:a16="http://schemas.microsoft.com/office/drawing/2014/main" id="{68326746-DF44-9DEF-8471-A5E1F6CCC502}"/>
              </a:ext>
            </a:extLst>
          </p:cNvPr>
          <p:cNvSpPr>
            <a:spLocks noGrp="1"/>
          </p:cNvSpPr>
          <p:nvPr>
            <p:ph type="ftr" sz="quarter" idx="11"/>
          </p:nvPr>
        </p:nvSpPr>
        <p:spPr/>
        <p:txBody>
          <a:bodyPr/>
          <a:lstStyle/>
          <a:p>
            <a:endParaRPr lang="es-AR"/>
          </a:p>
        </p:txBody>
      </p:sp>
      <p:sp>
        <p:nvSpPr>
          <p:cNvPr id="5" name="Date Placeholder 4">
            <a:extLst>
              <a:ext uri="{FF2B5EF4-FFF2-40B4-BE49-F238E27FC236}">
                <a16:creationId xmlns:a16="http://schemas.microsoft.com/office/drawing/2014/main" id="{15850B58-64D5-F359-1AC8-3D57AA87BFBD}"/>
              </a:ext>
            </a:extLst>
          </p:cNvPr>
          <p:cNvSpPr>
            <a:spLocks noGrp="1"/>
          </p:cNvSpPr>
          <p:nvPr>
            <p:ph type="dt" sz="half" idx="10"/>
          </p:nvPr>
        </p:nvSpPr>
        <p:spPr/>
        <p:txBody>
          <a:bodyPr/>
          <a:lstStyle/>
          <a:p>
            <a:fld id="{A1FA8894-54A6-4349-B0F6-9E5352737AA0}" type="datetimeFigureOut">
              <a:rPr lang="es-AR" smtClean="0"/>
              <a:t>8/10/2026</a:t>
            </a:fld>
            <a:endParaRPr lang="es-AR"/>
          </a:p>
        </p:txBody>
      </p:sp>
      <p:sp>
        <p:nvSpPr>
          <p:cNvPr id="7" name="Slide Number Placeholder 6">
            <a:extLst>
              <a:ext uri="{FF2B5EF4-FFF2-40B4-BE49-F238E27FC236}">
                <a16:creationId xmlns:a16="http://schemas.microsoft.com/office/drawing/2014/main" id="{9F6A22FA-48E7-5BF5-6432-6C7A54D7E031}"/>
              </a:ext>
            </a:extLst>
          </p:cNvPr>
          <p:cNvSpPr>
            <a:spLocks noGrp="1"/>
          </p:cNvSpPr>
          <p:nvPr>
            <p:ph type="sldNum" sz="quarter" idx="12"/>
          </p:nvPr>
        </p:nvSpPr>
        <p:spPr/>
        <p:txBody>
          <a:bodyPr/>
          <a:lstStyle/>
          <a:p>
            <a:fld id="{32BAF6E4-81DD-4D1D-A82A-B5B3BA61161D}" type="slidenum">
              <a:rPr lang="es-AR" smtClean="0"/>
              <a:t>‹Nº›</a:t>
            </a:fld>
            <a:endParaRPr lang="es-AR"/>
          </a:p>
        </p:txBody>
      </p:sp>
    </p:spTree>
    <p:extLst>
      <p:ext uri="{BB962C8B-B14F-4D97-AF65-F5344CB8AC3E}">
        <p14:creationId xmlns:p14="http://schemas.microsoft.com/office/powerpoint/2010/main" val="40334389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D8D87-72DE-A210-5C2D-570A1B01D41E}"/>
              </a:ext>
            </a:extLst>
          </p:cNvPr>
          <p:cNvSpPr>
            <a:spLocks noGrp="1"/>
          </p:cNvSpPr>
          <p:nvPr>
            <p:ph type="title"/>
          </p:nvPr>
        </p:nvSpPr>
        <p:spPr>
          <a:xfrm>
            <a:off x="603504" y="521206"/>
            <a:ext cx="10899648" cy="1069848"/>
          </a:xfrm>
          <a:noFill/>
        </p:spPr>
        <p:txBody>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F73932A9-21A4-5A57-9D72-8C46993E6B11}"/>
              </a:ext>
            </a:extLst>
          </p:cNvPr>
          <p:cNvSpPr>
            <a:spLocks noGrp="1"/>
          </p:cNvSpPr>
          <p:nvPr>
            <p:ph type="body" idx="1"/>
          </p:nvPr>
        </p:nvSpPr>
        <p:spPr>
          <a:xfrm>
            <a:off x="605431" y="1631076"/>
            <a:ext cx="5157787" cy="709394"/>
          </a:xfrm>
        </p:spPr>
        <p:txBody>
          <a:bodyPr anchor="b">
            <a:normAutofit/>
          </a:bodyPr>
          <a:lstStyle>
            <a:lvl1pPr marL="0" indent="0">
              <a:buNone/>
              <a:defRPr sz="1800" b="1" cap="all" spc="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a:extLst>
              <a:ext uri="{FF2B5EF4-FFF2-40B4-BE49-F238E27FC236}">
                <a16:creationId xmlns:a16="http://schemas.microsoft.com/office/drawing/2014/main" id="{B283D4B4-A366-E12D-19BB-C17B71466184}"/>
              </a:ext>
            </a:extLst>
          </p:cNvPr>
          <p:cNvSpPr>
            <a:spLocks noGrp="1"/>
          </p:cNvSpPr>
          <p:nvPr>
            <p:ph sz="half" idx="2"/>
          </p:nvPr>
        </p:nvSpPr>
        <p:spPr>
          <a:xfrm>
            <a:off x="605431" y="2372146"/>
            <a:ext cx="5157787" cy="349525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a:extLst>
              <a:ext uri="{FF2B5EF4-FFF2-40B4-BE49-F238E27FC236}">
                <a16:creationId xmlns:a16="http://schemas.microsoft.com/office/drawing/2014/main" id="{BC06DAAF-1A05-D83C-70C1-CEADA4EB7389}"/>
              </a:ext>
            </a:extLst>
          </p:cNvPr>
          <p:cNvSpPr>
            <a:spLocks noGrp="1"/>
          </p:cNvSpPr>
          <p:nvPr>
            <p:ph type="body" sz="quarter" idx="3"/>
          </p:nvPr>
        </p:nvSpPr>
        <p:spPr>
          <a:xfrm>
            <a:off x="6324600" y="1631076"/>
            <a:ext cx="5183188" cy="709393"/>
          </a:xfrm>
        </p:spPr>
        <p:txBody>
          <a:bodyPr anchor="b">
            <a:normAutofit/>
          </a:bodyPr>
          <a:lstStyle>
            <a:lvl1pPr marL="0" indent="0">
              <a:buNone/>
              <a:defRPr sz="1800" b="1" cap="all" spc="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a:extLst>
              <a:ext uri="{FF2B5EF4-FFF2-40B4-BE49-F238E27FC236}">
                <a16:creationId xmlns:a16="http://schemas.microsoft.com/office/drawing/2014/main" id="{ECFE7B13-3453-6313-B416-E9FF9DA2E010}"/>
              </a:ext>
            </a:extLst>
          </p:cNvPr>
          <p:cNvSpPr>
            <a:spLocks noGrp="1"/>
          </p:cNvSpPr>
          <p:nvPr>
            <p:ph sz="quarter" idx="4"/>
          </p:nvPr>
        </p:nvSpPr>
        <p:spPr>
          <a:xfrm>
            <a:off x="6324600" y="2372146"/>
            <a:ext cx="5183188" cy="349525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8" name="Footer Placeholder 7">
            <a:extLst>
              <a:ext uri="{FF2B5EF4-FFF2-40B4-BE49-F238E27FC236}">
                <a16:creationId xmlns:a16="http://schemas.microsoft.com/office/drawing/2014/main" id="{3061BE2D-E1A3-1A5C-AE37-9DC52A9717B7}"/>
              </a:ext>
            </a:extLst>
          </p:cNvPr>
          <p:cNvSpPr>
            <a:spLocks noGrp="1"/>
          </p:cNvSpPr>
          <p:nvPr>
            <p:ph type="ftr" sz="quarter" idx="11"/>
          </p:nvPr>
        </p:nvSpPr>
        <p:spPr/>
        <p:txBody>
          <a:bodyPr/>
          <a:lstStyle/>
          <a:p>
            <a:endParaRPr lang="es-AR"/>
          </a:p>
        </p:txBody>
      </p:sp>
      <p:sp>
        <p:nvSpPr>
          <p:cNvPr id="7" name="Date Placeholder 6">
            <a:extLst>
              <a:ext uri="{FF2B5EF4-FFF2-40B4-BE49-F238E27FC236}">
                <a16:creationId xmlns:a16="http://schemas.microsoft.com/office/drawing/2014/main" id="{71D5902D-DF04-F2A8-C2F8-EBDD2A897D21}"/>
              </a:ext>
            </a:extLst>
          </p:cNvPr>
          <p:cNvSpPr>
            <a:spLocks noGrp="1"/>
          </p:cNvSpPr>
          <p:nvPr>
            <p:ph type="dt" sz="half" idx="10"/>
          </p:nvPr>
        </p:nvSpPr>
        <p:spPr/>
        <p:txBody>
          <a:bodyPr/>
          <a:lstStyle/>
          <a:p>
            <a:fld id="{A1FA8894-54A6-4349-B0F6-9E5352737AA0}" type="datetimeFigureOut">
              <a:rPr lang="es-AR" smtClean="0"/>
              <a:t>8/10/2026</a:t>
            </a:fld>
            <a:endParaRPr lang="es-AR"/>
          </a:p>
        </p:txBody>
      </p:sp>
      <p:sp>
        <p:nvSpPr>
          <p:cNvPr id="9" name="Slide Number Placeholder 8">
            <a:extLst>
              <a:ext uri="{FF2B5EF4-FFF2-40B4-BE49-F238E27FC236}">
                <a16:creationId xmlns:a16="http://schemas.microsoft.com/office/drawing/2014/main" id="{DA4FDDA8-940A-B407-4EB2-85DC9BEDB476}"/>
              </a:ext>
            </a:extLst>
          </p:cNvPr>
          <p:cNvSpPr>
            <a:spLocks noGrp="1"/>
          </p:cNvSpPr>
          <p:nvPr>
            <p:ph type="sldNum" sz="quarter" idx="12"/>
          </p:nvPr>
        </p:nvSpPr>
        <p:spPr/>
        <p:txBody>
          <a:bodyPr/>
          <a:lstStyle/>
          <a:p>
            <a:fld id="{32BAF6E4-81DD-4D1D-A82A-B5B3BA61161D}" type="slidenum">
              <a:rPr lang="es-AR" smtClean="0"/>
              <a:t>‹Nº›</a:t>
            </a:fld>
            <a:endParaRPr lang="es-AR"/>
          </a:p>
        </p:txBody>
      </p:sp>
    </p:spTree>
    <p:extLst>
      <p:ext uri="{BB962C8B-B14F-4D97-AF65-F5344CB8AC3E}">
        <p14:creationId xmlns:p14="http://schemas.microsoft.com/office/powerpoint/2010/main" val="28740133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151FC-CD6F-656F-54A8-59B782BEFB30}"/>
              </a:ext>
            </a:extLst>
          </p:cNvPr>
          <p:cNvSpPr>
            <a:spLocks noGrp="1"/>
          </p:cNvSpPr>
          <p:nvPr>
            <p:ph type="title"/>
          </p:nvPr>
        </p:nvSpPr>
        <p:spPr>
          <a:xfrm>
            <a:off x="603504" y="265176"/>
            <a:ext cx="11028923" cy="1325880"/>
          </a:xfrm>
          <a:noFill/>
        </p:spPr>
        <p:txBody>
          <a:bodyPr/>
          <a:lstStyle/>
          <a:p>
            <a:r>
              <a:rPr lang="es-ES"/>
              <a:t>Haga clic para modificar el estilo de título del patrón</a:t>
            </a:r>
            <a:endParaRPr lang="en-US" dirty="0"/>
          </a:p>
        </p:txBody>
      </p:sp>
      <p:sp>
        <p:nvSpPr>
          <p:cNvPr id="4" name="Footer Placeholder 3">
            <a:extLst>
              <a:ext uri="{FF2B5EF4-FFF2-40B4-BE49-F238E27FC236}">
                <a16:creationId xmlns:a16="http://schemas.microsoft.com/office/drawing/2014/main" id="{D07D307A-FF1F-38A3-7DE5-F11DC31CA5B8}"/>
              </a:ext>
            </a:extLst>
          </p:cNvPr>
          <p:cNvSpPr>
            <a:spLocks noGrp="1"/>
          </p:cNvSpPr>
          <p:nvPr>
            <p:ph type="ftr" sz="quarter" idx="11"/>
          </p:nvPr>
        </p:nvSpPr>
        <p:spPr/>
        <p:txBody>
          <a:bodyPr/>
          <a:lstStyle/>
          <a:p>
            <a:endParaRPr lang="es-AR"/>
          </a:p>
        </p:txBody>
      </p:sp>
      <p:sp>
        <p:nvSpPr>
          <p:cNvPr id="3" name="Date Placeholder 2">
            <a:extLst>
              <a:ext uri="{FF2B5EF4-FFF2-40B4-BE49-F238E27FC236}">
                <a16:creationId xmlns:a16="http://schemas.microsoft.com/office/drawing/2014/main" id="{1E4C539B-20CB-8D83-0ECC-5F682BD06D6F}"/>
              </a:ext>
            </a:extLst>
          </p:cNvPr>
          <p:cNvSpPr>
            <a:spLocks noGrp="1"/>
          </p:cNvSpPr>
          <p:nvPr>
            <p:ph type="dt" sz="half" idx="10"/>
          </p:nvPr>
        </p:nvSpPr>
        <p:spPr/>
        <p:txBody>
          <a:bodyPr/>
          <a:lstStyle/>
          <a:p>
            <a:fld id="{A1FA8894-54A6-4349-B0F6-9E5352737AA0}" type="datetimeFigureOut">
              <a:rPr lang="es-AR" smtClean="0"/>
              <a:t>8/10/2026</a:t>
            </a:fld>
            <a:endParaRPr lang="es-AR"/>
          </a:p>
        </p:txBody>
      </p:sp>
      <p:sp>
        <p:nvSpPr>
          <p:cNvPr id="5" name="Slide Number Placeholder 4">
            <a:extLst>
              <a:ext uri="{FF2B5EF4-FFF2-40B4-BE49-F238E27FC236}">
                <a16:creationId xmlns:a16="http://schemas.microsoft.com/office/drawing/2014/main" id="{466EB674-912E-381A-49CE-08E49DFF46A7}"/>
              </a:ext>
            </a:extLst>
          </p:cNvPr>
          <p:cNvSpPr>
            <a:spLocks noGrp="1"/>
          </p:cNvSpPr>
          <p:nvPr>
            <p:ph type="sldNum" sz="quarter" idx="12"/>
          </p:nvPr>
        </p:nvSpPr>
        <p:spPr/>
        <p:txBody>
          <a:bodyPr/>
          <a:lstStyle/>
          <a:p>
            <a:fld id="{32BAF6E4-81DD-4D1D-A82A-B5B3BA61161D}" type="slidenum">
              <a:rPr lang="es-AR" smtClean="0"/>
              <a:t>‹Nº›</a:t>
            </a:fld>
            <a:endParaRPr lang="es-AR"/>
          </a:p>
        </p:txBody>
      </p:sp>
    </p:spTree>
    <p:extLst>
      <p:ext uri="{BB962C8B-B14F-4D97-AF65-F5344CB8AC3E}">
        <p14:creationId xmlns:p14="http://schemas.microsoft.com/office/powerpoint/2010/main" val="12344977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2FA0B77-3CB1-4071-30F6-B0766D75C10A}"/>
              </a:ext>
            </a:extLst>
          </p:cNvPr>
          <p:cNvSpPr>
            <a:spLocks noGrp="1"/>
          </p:cNvSpPr>
          <p:nvPr>
            <p:ph type="ftr" sz="quarter" idx="11"/>
          </p:nvPr>
        </p:nvSpPr>
        <p:spPr/>
        <p:txBody>
          <a:bodyPr/>
          <a:lstStyle/>
          <a:p>
            <a:endParaRPr lang="es-AR"/>
          </a:p>
        </p:txBody>
      </p:sp>
      <p:sp>
        <p:nvSpPr>
          <p:cNvPr id="2" name="Date Placeholder 1">
            <a:extLst>
              <a:ext uri="{FF2B5EF4-FFF2-40B4-BE49-F238E27FC236}">
                <a16:creationId xmlns:a16="http://schemas.microsoft.com/office/drawing/2014/main" id="{4B4A81A7-FC7B-1689-D59F-4173A1763CB9}"/>
              </a:ext>
            </a:extLst>
          </p:cNvPr>
          <p:cNvSpPr>
            <a:spLocks noGrp="1"/>
          </p:cNvSpPr>
          <p:nvPr>
            <p:ph type="dt" sz="half" idx="10"/>
          </p:nvPr>
        </p:nvSpPr>
        <p:spPr/>
        <p:txBody>
          <a:bodyPr/>
          <a:lstStyle/>
          <a:p>
            <a:fld id="{A1FA8894-54A6-4349-B0F6-9E5352737AA0}" type="datetimeFigureOut">
              <a:rPr lang="es-AR" smtClean="0"/>
              <a:t>8/10/2026</a:t>
            </a:fld>
            <a:endParaRPr lang="es-AR"/>
          </a:p>
        </p:txBody>
      </p:sp>
      <p:sp>
        <p:nvSpPr>
          <p:cNvPr id="4" name="Slide Number Placeholder 3">
            <a:extLst>
              <a:ext uri="{FF2B5EF4-FFF2-40B4-BE49-F238E27FC236}">
                <a16:creationId xmlns:a16="http://schemas.microsoft.com/office/drawing/2014/main" id="{5D080D98-2C9A-3434-E8A3-DA6CCD2F5EFE}"/>
              </a:ext>
            </a:extLst>
          </p:cNvPr>
          <p:cNvSpPr>
            <a:spLocks noGrp="1"/>
          </p:cNvSpPr>
          <p:nvPr>
            <p:ph type="sldNum" sz="quarter" idx="12"/>
          </p:nvPr>
        </p:nvSpPr>
        <p:spPr/>
        <p:txBody>
          <a:bodyPr/>
          <a:lstStyle/>
          <a:p>
            <a:fld id="{32BAF6E4-81DD-4D1D-A82A-B5B3BA61161D}" type="slidenum">
              <a:rPr lang="es-AR" smtClean="0"/>
              <a:t>‹Nº›</a:t>
            </a:fld>
            <a:endParaRPr lang="es-AR"/>
          </a:p>
        </p:txBody>
      </p:sp>
    </p:spTree>
    <p:extLst>
      <p:ext uri="{BB962C8B-B14F-4D97-AF65-F5344CB8AC3E}">
        <p14:creationId xmlns:p14="http://schemas.microsoft.com/office/powerpoint/2010/main" val="21268119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F22766A-BE9C-B780-CC66-44ECFC5C0A47}"/>
              </a:ext>
              <a:ext uri="{C183D7F6-B498-43B3-948B-1728B52AA6E4}">
                <adec:decorative xmlns:adec="http://schemas.microsoft.com/office/drawing/2017/decorative" val="1"/>
              </a:ext>
            </a:extLst>
          </p:cNvPr>
          <p:cNvSpPr/>
          <p:nvPr/>
        </p:nvSpPr>
        <p:spPr>
          <a:xfrm>
            <a:off x="2057400" y="3084659"/>
            <a:ext cx="10133956" cy="377334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146306" y="182881"/>
            <a:ext cx="8616684" cy="1874520"/>
          </a:xfrm>
          <a:noFill/>
        </p:spPr>
        <p:txBody>
          <a:bodyPr anchor="t">
            <a:normAutofit/>
          </a:bodyPr>
          <a:lstStyle>
            <a:lvl1pPr>
              <a:defRPr sz="9600">
                <a:solidFill>
                  <a:schemeClr val="accent2"/>
                </a:solidFill>
              </a:defRPr>
            </a:lvl1pPr>
          </a:lstStyle>
          <a:p>
            <a:r>
              <a:rPr lang="es-ES"/>
              <a:t>Haga clic para modificar el estilo de título del patrón</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53600" y="617923"/>
            <a:ext cx="1866897" cy="461881"/>
          </a:xfrm>
          <a:noFill/>
        </p:spPr>
        <p:txBody>
          <a:bodyPr anchor="t"/>
          <a:lstStyle>
            <a:lvl1pPr algn="r">
              <a:defRPr sz="900"/>
            </a:lvl1pPr>
          </a:lstStyle>
          <a:p>
            <a:endParaRPr lang="es-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2595846" y="3544866"/>
            <a:ext cx="8990722" cy="2446782"/>
          </a:xfrm>
        </p:spPr>
        <p:txBody>
          <a:bodyP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2595846" y="6024816"/>
            <a:ext cx="1809495" cy="365125"/>
          </a:xfrm>
          <a:solidFill>
            <a:schemeClr val="bg2"/>
          </a:solidFill>
        </p:spPr>
        <p:txBody>
          <a:bodyPr/>
          <a:lstStyle>
            <a:lvl1pPr algn="l">
              <a:defRPr/>
            </a:lvl1pPr>
          </a:lstStyle>
          <a:p>
            <a:fld id="{A1FA8894-54A6-4349-B0F6-9E5352737AA0}" type="datetimeFigureOut">
              <a:rPr lang="es-AR" smtClean="0"/>
              <a:t>8/10/2026</a:t>
            </a:fld>
            <a:endParaRPr lang="es-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solidFill>
            <a:schemeClr val="bg2"/>
          </a:solidFill>
        </p:spPr>
        <p:txBody>
          <a:bodyPr/>
          <a:lstStyle/>
          <a:p>
            <a:fld id="{32BAF6E4-81DD-4D1D-A82A-B5B3BA61161D}" type="slidenum">
              <a:rPr lang="es-AR" smtClean="0"/>
              <a:t>‹Nº›</a:t>
            </a:fld>
            <a:endParaRPr lang="es-AR"/>
          </a:p>
        </p:txBody>
      </p:sp>
    </p:spTree>
    <p:extLst>
      <p:ext uri="{BB962C8B-B14F-4D97-AF65-F5344CB8AC3E}">
        <p14:creationId xmlns:p14="http://schemas.microsoft.com/office/powerpoint/2010/main" val="17437713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72AC4BE-2FD3-AAF4-8A1B-0633F1BEE33B}"/>
              </a:ext>
              <a:ext uri="{C183D7F6-B498-43B3-948B-1728B52AA6E4}">
                <adec:decorative xmlns:adec="http://schemas.microsoft.com/office/drawing/2017/decorative" val="1"/>
              </a:ext>
            </a:extLst>
          </p:cNvPr>
          <p:cNvSpPr/>
          <p:nvPr/>
        </p:nvSpPr>
        <p:spPr>
          <a:xfrm>
            <a:off x="0" y="0"/>
            <a:ext cx="8436077" cy="2057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7652D305-42E1-E86E-632C-9DFD4F747E62}"/>
              </a:ext>
              <a:ext uri="{C183D7F6-B498-43B3-948B-1728B52AA6E4}">
                <adec:decorative xmlns:adec="http://schemas.microsoft.com/office/drawing/2017/decorative" val="1"/>
              </a:ext>
            </a:extLst>
          </p:cNvPr>
          <p:cNvCxnSpPr>
            <a:cxnSpLocks/>
          </p:cNvCxnSpPr>
          <p:nvPr/>
        </p:nvCxnSpPr>
        <p:spPr>
          <a:xfrm>
            <a:off x="685800" y="4564627"/>
            <a:ext cx="5068016"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73625" y="530940"/>
            <a:ext cx="7703576" cy="1308290"/>
          </a:xfrm>
          <a:noFill/>
        </p:spPr>
        <p:txBody>
          <a:bodyPr anchor="t">
            <a:normAutofit/>
          </a:bodyPr>
          <a:lstStyle>
            <a:lvl1pPr>
              <a:defRPr sz="8000">
                <a:solidFill>
                  <a:schemeClr val="accent2"/>
                </a:solidFill>
              </a:defRPr>
            </a:lvl1pPr>
          </a:lstStyle>
          <a:p>
            <a:r>
              <a:rPr lang="es-ES"/>
              <a:t>Haga clic para modificar el estilo de título del patrón</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7005" y="3571531"/>
            <a:ext cx="5009534" cy="1987694"/>
          </a:xfrm>
        </p:spPr>
        <p:txBody>
          <a:bodyPr anchor="ct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0" y="6029867"/>
            <a:ext cx="1911096" cy="365126"/>
          </a:xfrm>
          <a:noFill/>
        </p:spPr>
        <p:txBody>
          <a:bodyPr anchor="ctr"/>
          <a:lstStyle>
            <a:lvl1pPr algn="l">
              <a:defRPr sz="900" b="1"/>
            </a:lvl1pPr>
          </a:lstStyle>
          <a:p>
            <a:endParaRPr lang="es-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799320" y="6029867"/>
            <a:ext cx="1441766" cy="365125"/>
          </a:xfrm>
          <a:noFill/>
        </p:spPr>
        <p:txBody>
          <a:bodyPr/>
          <a:lstStyle>
            <a:lvl1pPr algn="r">
              <a:defRPr/>
            </a:lvl1pPr>
          </a:lstStyle>
          <a:p>
            <a:fld id="{A1FA8894-54A6-4349-B0F6-9E5352737AA0}" type="datetimeFigureOut">
              <a:rPr lang="es-AR" smtClean="0"/>
              <a:t>8/10/2026</a:t>
            </a:fld>
            <a:endParaRPr lang="es-AR"/>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32BAF6E4-81DD-4D1D-A82A-B5B3BA61161D}" type="slidenum">
              <a:rPr lang="es-AR" smtClean="0"/>
              <a:t>‹Nº›</a:t>
            </a:fld>
            <a:endParaRPr lang="es-AR"/>
          </a:p>
        </p:txBody>
      </p:sp>
    </p:spTree>
    <p:extLst>
      <p:ext uri="{BB962C8B-B14F-4D97-AF65-F5344CB8AC3E}">
        <p14:creationId xmlns:p14="http://schemas.microsoft.com/office/powerpoint/2010/main" val="25651859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FBAF5C3-82B6-427E-5D2E-900A2D90AD99}"/>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01AA792-727F-F91C-6564-A882FAF11ED4}"/>
              </a:ext>
            </a:extLst>
          </p:cNvPr>
          <p:cNvSpPr>
            <a:spLocks noGrp="1"/>
          </p:cNvSpPr>
          <p:nvPr>
            <p:ph type="title"/>
          </p:nvPr>
        </p:nvSpPr>
        <p:spPr>
          <a:xfrm>
            <a:off x="603504" y="351270"/>
            <a:ext cx="10981137" cy="1239720"/>
          </a:xfrm>
          <a:prstGeom prst="rect">
            <a:avLst/>
          </a:prstGeom>
          <a:solidFill>
            <a:schemeClr val="bg1"/>
          </a:solidFill>
        </p:spPr>
        <p:txBody>
          <a:bodyPr vert="horz" lIns="91440" tIns="45720" rIns="91440" bIns="137160" rtlCol="0" anchor="b">
            <a:norm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3390A246-77A4-EC4C-28B8-90388BB8E78F}"/>
              </a:ext>
            </a:extLst>
          </p:cNvPr>
          <p:cNvSpPr>
            <a:spLocks noGrp="1"/>
          </p:cNvSpPr>
          <p:nvPr>
            <p:ph type="body" idx="1"/>
          </p:nvPr>
        </p:nvSpPr>
        <p:spPr>
          <a:xfrm>
            <a:off x="605431" y="1745956"/>
            <a:ext cx="10981137" cy="398346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Footer Placeholder 4">
            <a:extLst>
              <a:ext uri="{FF2B5EF4-FFF2-40B4-BE49-F238E27FC236}">
                <a16:creationId xmlns:a16="http://schemas.microsoft.com/office/drawing/2014/main" id="{D3EF6714-5B6F-439F-4173-D51823712315}"/>
              </a:ext>
            </a:extLst>
          </p:cNvPr>
          <p:cNvSpPr>
            <a:spLocks noGrp="1"/>
          </p:cNvSpPr>
          <p:nvPr>
            <p:ph type="ftr" sz="quarter" idx="3"/>
          </p:nvPr>
        </p:nvSpPr>
        <p:spPr>
          <a:xfrm>
            <a:off x="605430" y="6029868"/>
            <a:ext cx="1911096" cy="365125"/>
          </a:xfrm>
          <a:prstGeom prst="rect">
            <a:avLst/>
          </a:prstGeom>
          <a:solidFill>
            <a:schemeClr val="bg1"/>
          </a:solidFill>
        </p:spPr>
        <p:txBody>
          <a:bodyPr vert="horz" lIns="91440" tIns="45720" rIns="91440" bIns="45720" rtlCol="0" anchor="ctr"/>
          <a:lstStyle>
            <a:lvl1pPr algn="l">
              <a:defRPr sz="900" b="1" cap="all" spc="60" baseline="0">
                <a:solidFill>
                  <a:schemeClr val="tx2"/>
                </a:solidFill>
              </a:defRPr>
            </a:lvl1pPr>
          </a:lstStyle>
          <a:p>
            <a:endParaRPr lang="es-AR"/>
          </a:p>
        </p:txBody>
      </p:sp>
      <p:sp>
        <p:nvSpPr>
          <p:cNvPr id="4" name="Date Placeholder 3">
            <a:extLst>
              <a:ext uri="{FF2B5EF4-FFF2-40B4-BE49-F238E27FC236}">
                <a16:creationId xmlns:a16="http://schemas.microsoft.com/office/drawing/2014/main" id="{BF9842E6-B4ED-431B-B1A0-22352BA620AE}"/>
              </a:ext>
            </a:extLst>
          </p:cNvPr>
          <p:cNvSpPr>
            <a:spLocks noGrp="1"/>
          </p:cNvSpPr>
          <p:nvPr>
            <p:ph type="dt" sz="half" idx="2"/>
          </p:nvPr>
        </p:nvSpPr>
        <p:spPr>
          <a:xfrm>
            <a:off x="10058400" y="6029868"/>
            <a:ext cx="1182686"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A1FA8894-54A6-4349-B0F6-9E5352737AA0}" type="datetimeFigureOut">
              <a:rPr lang="es-AR" smtClean="0"/>
              <a:t>8/10/2026</a:t>
            </a:fld>
            <a:endParaRPr lang="es-AR"/>
          </a:p>
        </p:txBody>
      </p:sp>
      <p:sp>
        <p:nvSpPr>
          <p:cNvPr id="6" name="Slide Number Placeholder 5">
            <a:extLst>
              <a:ext uri="{FF2B5EF4-FFF2-40B4-BE49-F238E27FC236}">
                <a16:creationId xmlns:a16="http://schemas.microsoft.com/office/drawing/2014/main" id="{156743A1-0EE5-84FA-44EE-3CDDB793AAC4}"/>
              </a:ext>
            </a:extLst>
          </p:cNvPr>
          <p:cNvSpPr>
            <a:spLocks noGrp="1"/>
          </p:cNvSpPr>
          <p:nvPr>
            <p:ph type="sldNum" sz="quarter" idx="4"/>
          </p:nvPr>
        </p:nvSpPr>
        <p:spPr>
          <a:xfrm>
            <a:off x="11233434" y="6029868"/>
            <a:ext cx="429372"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32BAF6E4-81DD-4D1D-A82A-B5B3BA61161D}" type="slidenum">
              <a:rPr lang="es-AR" smtClean="0"/>
              <a:t>‹Nº›</a:t>
            </a:fld>
            <a:endParaRPr lang="es-AR"/>
          </a:p>
        </p:txBody>
      </p:sp>
    </p:spTree>
    <p:extLst>
      <p:ext uri="{BB962C8B-B14F-4D97-AF65-F5344CB8AC3E}">
        <p14:creationId xmlns:p14="http://schemas.microsoft.com/office/powerpoint/2010/main" val="22069360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Lst>
  <p:txStyles>
    <p:titleStyle>
      <a:lvl1pPr marL="0" algn="l" defTabSz="914400" rtl="0" eaLnBrk="1" latinLnBrk="0" hangingPunct="1">
        <a:lnSpc>
          <a:spcPct val="100000"/>
        </a:lnSpc>
        <a:spcBef>
          <a:spcPct val="0"/>
        </a:spcBef>
        <a:spcAft>
          <a:spcPts val="0"/>
        </a:spcAft>
        <a:buNone/>
        <a:defRPr sz="2800" kern="1200" cap="all" baseline="0">
          <a:solidFill>
            <a:schemeClr val="accent5"/>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864">
          <p15:clr>
            <a:srgbClr val="F26B43"/>
          </p15:clr>
        </p15:guide>
        <p15:guide id="3" pos="432">
          <p15:clr>
            <a:srgbClr val="F26B43"/>
          </p15:clr>
        </p15:guide>
        <p15:guide id="4" orient="horz" pos="3912">
          <p15:clr>
            <a:srgbClr val="F26B43"/>
          </p15:clr>
        </p15:guide>
        <p15:guide id="5" orient="horz" pos="3504">
          <p15:clr>
            <a:srgbClr val="F26B43"/>
          </p15:clr>
        </p15:guide>
        <p15:guide id="6" orient="horz" pos="3024">
          <p15:clr>
            <a:srgbClr val="F26B43"/>
          </p15:clr>
        </p15:guide>
        <p15:guide id="7" orient="horz" pos="2592">
          <p15:clr>
            <a:srgbClr val="F26B43"/>
          </p15:clr>
        </p15:guide>
        <p15:guide id="8" orient="horz" pos="1728">
          <p15:clr>
            <a:srgbClr val="F26B43"/>
          </p15:clr>
        </p15:guide>
        <p15:guide id="9" orient="horz" pos="1296">
          <p15:clr>
            <a:srgbClr val="F26B43"/>
          </p15:clr>
        </p15:guide>
        <p15:guide id="10" orient="horz" pos="864">
          <p15:clr>
            <a:srgbClr val="F26B43"/>
          </p15:clr>
        </p15:guide>
        <p15:guide id="11" orient="horz" pos="432">
          <p15:clr>
            <a:srgbClr val="F26B43"/>
          </p15:clr>
        </p15:guide>
        <p15:guide id="12" pos="1296">
          <p15:clr>
            <a:srgbClr val="F26B43"/>
          </p15:clr>
        </p15:guide>
        <p15:guide id="13" pos="1728">
          <p15:clr>
            <a:srgbClr val="F26B43"/>
          </p15:clr>
        </p15:guide>
        <p15:guide id="18" pos="2160">
          <p15:clr>
            <a:srgbClr val="F26B43"/>
          </p15:clr>
        </p15:guide>
        <p15:guide id="20" pos="5520">
          <p15:clr>
            <a:srgbClr val="F26B43"/>
          </p15:clr>
        </p15:guide>
        <p15:guide id="21" pos="5952">
          <p15:clr>
            <a:srgbClr val="F26B43"/>
          </p15:clr>
        </p15:guide>
        <p15:guide id="22" pos="6384">
          <p15:clr>
            <a:srgbClr val="F26B43"/>
          </p15:clr>
        </p15:guide>
        <p15:guide id="24" pos="6816">
          <p15:clr>
            <a:srgbClr val="F26B43"/>
          </p15:clr>
        </p15:guide>
        <p15:guide id="25" pos="7248">
          <p15:clr>
            <a:srgbClr val="F26B43"/>
          </p15:clr>
        </p15:guide>
        <p15:guide id="26" pos="5088">
          <p15:clr>
            <a:srgbClr val="F26B43"/>
          </p15:clr>
        </p15:guide>
        <p15:guide id="27" pos="4656">
          <p15:clr>
            <a:srgbClr val="F26B43"/>
          </p15:clr>
        </p15:guide>
        <p15:guide id="28" pos="4224">
          <p15:clr>
            <a:srgbClr val="F26B43"/>
          </p15:clr>
        </p15:guide>
        <p15:guide id="29" pos="2592">
          <p15:clr>
            <a:srgbClr val="F26B43"/>
          </p15:clr>
        </p15:guide>
        <p15:guide id="30" pos="3024">
          <p15:clr>
            <a:srgbClr val="F26B43"/>
          </p15:clr>
        </p15:guide>
        <p15:guide id="31" pos="3456">
          <p15:clr>
            <a:srgbClr val="F26B43"/>
          </p15:clr>
        </p15:guide>
        <p15:guide id="32" orient="horz" pos="64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D0FD29-4E72-7173-6142-5169A2547D51}"/>
              </a:ext>
            </a:extLst>
          </p:cNvPr>
          <p:cNvSpPr>
            <a:spLocks noGrp="1"/>
          </p:cNvSpPr>
          <p:nvPr>
            <p:ph type="ctrTitle"/>
          </p:nvPr>
        </p:nvSpPr>
        <p:spPr>
          <a:xfrm>
            <a:off x="1307184" y="292805"/>
            <a:ext cx="9144000" cy="1655762"/>
          </a:xfrm>
        </p:spPr>
        <p:txBody>
          <a:bodyPr>
            <a:normAutofit fontScale="90000"/>
          </a:bodyPr>
          <a:lstStyle/>
          <a:p>
            <a:r>
              <a:rPr lang="es-AR" b="1" dirty="0"/>
              <a:t>Estructura del proyecto y MySQL</a:t>
            </a:r>
            <a:endParaRPr lang="es-AR" dirty="0"/>
          </a:p>
        </p:txBody>
      </p:sp>
      <p:sp>
        <p:nvSpPr>
          <p:cNvPr id="3" name="Subtítulo 2">
            <a:extLst>
              <a:ext uri="{FF2B5EF4-FFF2-40B4-BE49-F238E27FC236}">
                <a16:creationId xmlns:a16="http://schemas.microsoft.com/office/drawing/2014/main" id="{848FB712-3D7F-9E3B-CC62-D2E283338467}"/>
              </a:ext>
            </a:extLst>
          </p:cNvPr>
          <p:cNvSpPr>
            <a:spLocks noGrp="1"/>
          </p:cNvSpPr>
          <p:nvPr>
            <p:ph type="subTitle" idx="1"/>
          </p:nvPr>
        </p:nvSpPr>
        <p:spPr>
          <a:xfrm>
            <a:off x="1524000" y="2620652"/>
            <a:ext cx="9144000" cy="2637148"/>
          </a:xfrm>
        </p:spPr>
        <p:txBody>
          <a:bodyPr>
            <a:normAutofit fontScale="77500" lnSpcReduction="20000"/>
          </a:bodyPr>
          <a:lstStyle/>
          <a:p>
            <a:r>
              <a:rPr lang="es-AR" cap="all" dirty="0">
                <a:highlight>
                  <a:srgbClr val="FFFF00"/>
                </a:highlight>
              </a:rPr>
              <a:t>Objetivos de la clase</a:t>
            </a:r>
          </a:p>
          <a:p>
            <a:pPr marL="342900" lvl="0" indent="-342900" algn="l">
              <a:buFont typeface="Arial" panose="020B0604020202020204" pitchFamily="34" charset="0"/>
              <a:buChar char="•"/>
            </a:pPr>
            <a:r>
              <a:rPr lang="es-AR" dirty="0"/>
              <a:t>Organizar el proyecto en carpetas por responsabilidad: rutas, controladores, modelos, middlewares y configuración.</a:t>
            </a:r>
          </a:p>
          <a:p>
            <a:pPr marL="342900" lvl="0" indent="-342900" algn="l">
              <a:buFont typeface="Arial" panose="020B0604020202020204" pitchFamily="34" charset="0"/>
              <a:buChar char="•"/>
            </a:pPr>
            <a:r>
              <a:rPr lang="es-AR" dirty="0"/>
              <a:t>Usar </a:t>
            </a:r>
            <a:r>
              <a:rPr lang="es-AR" dirty="0" err="1"/>
              <a:t>express.Router</a:t>
            </a:r>
            <a:r>
              <a:rPr lang="es-AR" dirty="0"/>
              <a:t>() para separar las rutas en varios archivos.</a:t>
            </a:r>
          </a:p>
          <a:p>
            <a:pPr marL="342900" lvl="0" indent="-342900" algn="l">
              <a:buFont typeface="Arial" panose="020B0604020202020204" pitchFamily="34" charset="0"/>
              <a:buChar char="•"/>
            </a:pPr>
            <a:r>
              <a:rPr lang="es-AR" dirty="0"/>
              <a:t>Entender en qué se diferencia un motor como MySQL de SQLite, y crear la base y las tablas con un script .</a:t>
            </a:r>
            <a:r>
              <a:rPr lang="es-AR" dirty="0" err="1"/>
              <a:t>sql</a:t>
            </a:r>
            <a:r>
              <a:rPr lang="es-AR" dirty="0"/>
              <a:t>.</a:t>
            </a:r>
          </a:p>
          <a:p>
            <a:pPr marL="342900" lvl="0" indent="-342900" algn="l">
              <a:buFont typeface="Arial" panose="020B0604020202020204" pitchFamily="34" charset="0"/>
              <a:buChar char="•"/>
            </a:pPr>
            <a:r>
              <a:rPr lang="es-AR" dirty="0"/>
              <a:t>Conectarse a MySQL desde </a:t>
            </a:r>
            <a:r>
              <a:rPr lang="es-AR" dirty="0" err="1"/>
              <a:t>Node</a:t>
            </a:r>
            <a:r>
              <a:rPr lang="es-AR" dirty="0"/>
              <a:t> con mysql2 y un </a:t>
            </a:r>
            <a:r>
              <a:rPr lang="es-AR" i="1" dirty="0"/>
              <a:t>pool</a:t>
            </a:r>
            <a:r>
              <a:rPr lang="es-AR" dirty="0"/>
              <a:t> de conexiones, con los datos sensibles en .</a:t>
            </a:r>
            <a:r>
              <a:rPr lang="es-AR" dirty="0" err="1"/>
              <a:t>env</a:t>
            </a:r>
            <a:r>
              <a:rPr lang="es-AR" dirty="0"/>
              <a:t>.</a:t>
            </a:r>
          </a:p>
          <a:p>
            <a:pPr marL="342900" lvl="0" indent="-342900" algn="l">
              <a:buFont typeface="Arial" panose="020B0604020202020204" pitchFamily="34" charset="0"/>
              <a:buChar char="•"/>
            </a:pPr>
            <a:r>
              <a:rPr lang="es-AR" dirty="0"/>
              <a:t>Escribir consultas SELECT, INSERT, UPDATE y DELETE asíncronas, con </a:t>
            </a:r>
            <a:r>
              <a:rPr lang="es-AR" dirty="0" err="1"/>
              <a:t>placeholders</a:t>
            </a:r>
            <a:r>
              <a:rPr lang="es-AR" dirty="0"/>
              <a:t>, y leer bien lo que devuelve cada una.</a:t>
            </a:r>
          </a:p>
          <a:p>
            <a:endParaRPr lang="es-AR" dirty="0"/>
          </a:p>
        </p:txBody>
      </p:sp>
    </p:spTree>
    <p:extLst>
      <p:ext uri="{BB962C8B-B14F-4D97-AF65-F5344CB8AC3E}">
        <p14:creationId xmlns:p14="http://schemas.microsoft.com/office/powerpoint/2010/main" val="1183391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FD9440-75FD-DB10-3D21-65092D67D637}"/>
              </a:ext>
            </a:extLst>
          </p:cNvPr>
          <p:cNvSpPr>
            <a:spLocks noGrp="1"/>
          </p:cNvSpPr>
          <p:nvPr>
            <p:ph type="title"/>
          </p:nvPr>
        </p:nvSpPr>
        <p:spPr/>
        <p:txBody>
          <a:bodyPr/>
          <a:lstStyle/>
          <a:p>
            <a:r>
              <a:rPr lang="es-AR" cap="all" dirty="0"/>
              <a:t>Conexión con la clase anterior</a:t>
            </a:r>
            <a:endParaRPr lang="es-AR" dirty="0"/>
          </a:p>
        </p:txBody>
      </p:sp>
      <p:sp>
        <p:nvSpPr>
          <p:cNvPr id="3" name="Marcador de contenido 2">
            <a:extLst>
              <a:ext uri="{FF2B5EF4-FFF2-40B4-BE49-F238E27FC236}">
                <a16:creationId xmlns:a16="http://schemas.microsoft.com/office/drawing/2014/main" id="{EC3BB057-7192-30A9-4E08-B70858D637F5}"/>
              </a:ext>
            </a:extLst>
          </p:cNvPr>
          <p:cNvSpPr>
            <a:spLocks noGrp="1"/>
          </p:cNvSpPr>
          <p:nvPr>
            <p:ph idx="1"/>
          </p:nvPr>
        </p:nvSpPr>
        <p:spPr/>
        <p:txBody>
          <a:bodyPr/>
          <a:lstStyle/>
          <a:p>
            <a:r>
              <a:rPr lang="es-AR" dirty="0"/>
              <a:t>Después de las clases 16 a 18, servidor.js hace de todo: configura Express, define rutas de tareas y de usuarios, </a:t>
            </a:r>
            <a:r>
              <a:rPr lang="es-AR" dirty="0" err="1"/>
              <a:t>hashea</a:t>
            </a:r>
            <a:r>
              <a:rPr lang="es-AR" dirty="0"/>
              <a:t> contraseñas, firma tokens, verifica tokens y arma consultas SQL. Funciona, pero cada cambio obliga a buscar en un archivo cada vez más largo, y es fácil romper algo que no tenía nada que ver. Esta clase hace dos cosas, en ese orden: primero ordena el proyecto en capas, y después cambia SQLite por MySQL. El orden importa: una vez que el proyecto está ordenado, cambiar de base de datos toca </a:t>
            </a:r>
            <a:r>
              <a:rPr lang="es-AR" b="1" dirty="0"/>
              <a:t>solo dos carpetas</a:t>
            </a:r>
            <a:r>
              <a:rPr lang="es-AR" dirty="0"/>
              <a:t>.</a:t>
            </a:r>
          </a:p>
        </p:txBody>
      </p:sp>
    </p:spTree>
    <p:extLst>
      <p:ext uri="{BB962C8B-B14F-4D97-AF65-F5344CB8AC3E}">
        <p14:creationId xmlns:p14="http://schemas.microsoft.com/office/powerpoint/2010/main" val="2858749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24714A-F360-91EB-2084-45222606931E}"/>
              </a:ext>
            </a:extLst>
          </p:cNvPr>
          <p:cNvSpPr>
            <a:spLocks noGrp="1"/>
          </p:cNvSpPr>
          <p:nvPr>
            <p:ph type="title"/>
          </p:nvPr>
        </p:nvSpPr>
        <p:spPr/>
        <p:txBody>
          <a:bodyPr/>
          <a:lstStyle/>
          <a:p>
            <a:r>
              <a:rPr lang="es-AR" b="1" dirty="0"/>
              <a:t>Parte 1 · Por qué separar en capas</a:t>
            </a:r>
            <a:endParaRPr lang="es-AR" dirty="0"/>
          </a:p>
        </p:txBody>
      </p:sp>
      <p:sp>
        <p:nvSpPr>
          <p:cNvPr id="3" name="Marcador de contenido 2">
            <a:extLst>
              <a:ext uri="{FF2B5EF4-FFF2-40B4-BE49-F238E27FC236}">
                <a16:creationId xmlns:a16="http://schemas.microsoft.com/office/drawing/2014/main" id="{74DA7CB6-B7EC-1B15-B30D-E9D8A4836A23}"/>
              </a:ext>
            </a:extLst>
          </p:cNvPr>
          <p:cNvSpPr>
            <a:spLocks noGrp="1"/>
          </p:cNvSpPr>
          <p:nvPr>
            <p:ph idx="1"/>
          </p:nvPr>
        </p:nvSpPr>
        <p:spPr/>
        <p:txBody>
          <a:bodyPr/>
          <a:lstStyle/>
          <a:p>
            <a:r>
              <a:rPr lang="es-AR" dirty="0"/>
              <a:t>La idea es simple: que cada archivo tenga </a:t>
            </a:r>
            <a:r>
              <a:rPr lang="es-AR" b="1" dirty="0"/>
              <a:t>un solo motivo para cambiar</a:t>
            </a:r>
            <a:r>
              <a:rPr lang="es-AR" dirty="0"/>
              <a:t>. Si mañana cambia la URL de un </a:t>
            </a:r>
            <a:r>
              <a:rPr lang="es-AR" dirty="0" err="1"/>
              <a:t>endpoint</a:t>
            </a:r>
            <a:r>
              <a:rPr lang="es-AR" dirty="0"/>
              <a:t>, solo se toca el archivo de rutas. Si cambia una regla de validación, solo el controlador. Si cambia la base de datos, solo los modelos. Un pedido HTTP atraviesa las capas siempre en el mismo orden:</a:t>
            </a:r>
          </a:p>
        </p:txBody>
      </p:sp>
      <p:pic>
        <p:nvPicPr>
          <p:cNvPr id="5" name="Imagen 4">
            <a:extLst>
              <a:ext uri="{FF2B5EF4-FFF2-40B4-BE49-F238E27FC236}">
                <a16:creationId xmlns:a16="http://schemas.microsoft.com/office/drawing/2014/main" id="{23D2694E-9247-0C6F-6A84-7F9DE5444EC5}"/>
              </a:ext>
            </a:extLst>
          </p:cNvPr>
          <p:cNvPicPr>
            <a:picLocks noChangeAspect="1"/>
          </p:cNvPicPr>
          <p:nvPr/>
        </p:nvPicPr>
        <p:blipFill>
          <a:blip r:embed="rId2"/>
          <a:stretch>
            <a:fillRect/>
          </a:stretch>
        </p:blipFill>
        <p:spPr>
          <a:xfrm>
            <a:off x="1037520" y="4001294"/>
            <a:ext cx="9416799" cy="2097848"/>
          </a:xfrm>
          <a:prstGeom prst="rect">
            <a:avLst/>
          </a:prstGeom>
        </p:spPr>
      </p:pic>
    </p:spTree>
    <p:extLst>
      <p:ext uri="{BB962C8B-B14F-4D97-AF65-F5344CB8AC3E}">
        <p14:creationId xmlns:p14="http://schemas.microsoft.com/office/powerpoint/2010/main" val="1234059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81D0212C-8F07-957C-BB79-D07CF4EC16ED}"/>
              </a:ext>
            </a:extLst>
          </p:cNvPr>
          <p:cNvPicPr>
            <a:picLocks noGrp="1" noChangeAspect="1"/>
          </p:cNvPicPr>
          <p:nvPr>
            <p:ph idx="1"/>
          </p:nvPr>
        </p:nvPicPr>
        <p:blipFill>
          <a:blip r:embed="rId2"/>
          <a:stretch>
            <a:fillRect/>
          </a:stretch>
        </p:blipFill>
        <p:spPr>
          <a:xfrm>
            <a:off x="1401554" y="1902079"/>
            <a:ext cx="9098338" cy="2792469"/>
          </a:xfrm>
          <a:prstGeom prst="rect">
            <a:avLst/>
          </a:prstGeom>
        </p:spPr>
      </p:pic>
    </p:spTree>
    <p:extLst>
      <p:ext uri="{BB962C8B-B14F-4D97-AF65-F5344CB8AC3E}">
        <p14:creationId xmlns:p14="http://schemas.microsoft.com/office/powerpoint/2010/main" val="1996258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46B448AC-6CC8-9E61-7AB0-9B301D17C515}"/>
              </a:ext>
            </a:extLst>
          </p:cNvPr>
          <p:cNvPicPr>
            <a:picLocks noGrp="1" noChangeAspect="1"/>
          </p:cNvPicPr>
          <p:nvPr>
            <p:ph idx="1"/>
          </p:nvPr>
        </p:nvPicPr>
        <p:blipFill>
          <a:blip r:embed="rId2"/>
          <a:stretch>
            <a:fillRect/>
          </a:stretch>
        </p:blipFill>
        <p:spPr>
          <a:xfrm>
            <a:off x="857838" y="300649"/>
            <a:ext cx="8334215" cy="6256701"/>
          </a:xfrm>
          <a:prstGeom prst="rect">
            <a:avLst/>
          </a:prstGeom>
        </p:spPr>
      </p:pic>
    </p:spTree>
    <p:extLst>
      <p:ext uri="{BB962C8B-B14F-4D97-AF65-F5344CB8AC3E}">
        <p14:creationId xmlns:p14="http://schemas.microsoft.com/office/powerpoint/2010/main" val="1074220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F870F58-309C-B0E8-A88A-FE33203A79B7}"/>
              </a:ext>
            </a:extLst>
          </p:cNvPr>
          <p:cNvSpPr>
            <a:spLocks noGrp="1"/>
          </p:cNvSpPr>
          <p:nvPr>
            <p:ph idx="1"/>
          </p:nvPr>
        </p:nvSpPr>
        <p:spPr>
          <a:xfrm>
            <a:off x="838200" y="1084082"/>
            <a:ext cx="10515600" cy="5092881"/>
          </a:xfrm>
        </p:spPr>
        <p:txBody>
          <a:bodyPr/>
          <a:lstStyle/>
          <a:p>
            <a:r>
              <a:rPr lang="es-AR" dirty="0"/>
              <a:t>No hay una única estructura "correcta" — hay proyectos que agrupan por funcionalidad (tareas/, usuarios/) en vez de por capa. Esta es la más común en proyectos Express chicos y medianos, y la que van a encontrar en la mayoría de los tutoriales y repositorios. La convención nombre.capa.js (tareas.routes.js, tareas.controller.js) no es obligatoria, pero ayuda mucho cuando hay cinco pestañas abiertas que se llaman "tareas".</a:t>
            </a:r>
          </a:p>
        </p:txBody>
      </p:sp>
    </p:spTree>
    <p:extLst>
      <p:ext uri="{BB962C8B-B14F-4D97-AF65-F5344CB8AC3E}">
        <p14:creationId xmlns:p14="http://schemas.microsoft.com/office/powerpoint/2010/main" val="31260651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74A23F-4BDE-71C9-16F8-93085378532A}"/>
              </a:ext>
            </a:extLst>
          </p:cNvPr>
          <p:cNvSpPr>
            <a:spLocks noGrp="1"/>
          </p:cNvSpPr>
          <p:nvPr>
            <p:ph type="title"/>
          </p:nvPr>
        </p:nvSpPr>
        <p:spPr/>
        <p:txBody>
          <a:bodyPr/>
          <a:lstStyle/>
          <a:p>
            <a:r>
              <a:rPr lang="es-AR" b="1" dirty="0"/>
              <a:t>app.js y server.js: por qué son dos archivos</a:t>
            </a:r>
            <a:endParaRPr lang="es-AR" dirty="0"/>
          </a:p>
        </p:txBody>
      </p:sp>
      <p:sp>
        <p:nvSpPr>
          <p:cNvPr id="3" name="Marcador de contenido 2">
            <a:extLst>
              <a:ext uri="{FF2B5EF4-FFF2-40B4-BE49-F238E27FC236}">
                <a16:creationId xmlns:a16="http://schemas.microsoft.com/office/drawing/2014/main" id="{946FFE2E-77A7-D31D-52D2-2B49ED48FD1E}"/>
              </a:ext>
            </a:extLst>
          </p:cNvPr>
          <p:cNvSpPr>
            <a:spLocks noGrp="1"/>
          </p:cNvSpPr>
          <p:nvPr>
            <p:ph idx="1"/>
          </p:nvPr>
        </p:nvSpPr>
        <p:spPr>
          <a:xfrm>
            <a:off x="838200" y="1385740"/>
            <a:ext cx="10515600" cy="4791223"/>
          </a:xfrm>
        </p:spPr>
        <p:txBody>
          <a:bodyPr>
            <a:normAutofit fontScale="77500" lnSpcReduction="20000"/>
          </a:bodyPr>
          <a:lstStyle/>
          <a:p>
            <a:r>
              <a:rPr lang="es-AR" dirty="0" err="1"/>
              <a:t>src</a:t>
            </a:r>
            <a:r>
              <a:rPr lang="es-AR" dirty="0"/>
              <a:t>/app.js</a:t>
            </a:r>
          </a:p>
          <a:p>
            <a:pPr marL="0" indent="0">
              <a:buNone/>
            </a:pPr>
            <a:r>
              <a:rPr lang="es-AR" dirty="0" err="1"/>
              <a:t>import</a:t>
            </a:r>
            <a:r>
              <a:rPr lang="es-AR" dirty="0"/>
              <a:t> </a:t>
            </a:r>
            <a:r>
              <a:rPr lang="es-AR" dirty="0" err="1"/>
              <a:t>express</a:t>
            </a:r>
            <a:r>
              <a:rPr lang="es-AR" dirty="0"/>
              <a:t> </a:t>
            </a:r>
            <a:r>
              <a:rPr lang="es-AR" dirty="0" err="1"/>
              <a:t>from</a:t>
            </a:r>
            <a:r>
              <a:rPr lang="es-AR" dirty="0"/>
              <a:t> '</a:t>
            </a:r>
            <a:r>
              <a:rPr lang="es-AR" dirty="0" err="1"/>
              <a:t>express</a:t>
            </a:r>
            <a:r>
              <a:rPr lang="es-AR" dirty="0"/>
              <a:t>';</a:t>
            </a:r>
          </a:p>
          <a:p>
            <a:pPr marL="0" indent="0">
              <a:buNone/>
            </a:pPr>
            <a:r>
              <a:rPr lang="es-AR" dirty="0" err="1"/>
              <a:t>import</a:t>
            </a:r>
            <a:r>
              <a:rPr lang="es-AR" dirty="0"/>
              <a:t> </a:t>
            </a:r>
            <a:r>
              <a:rPr lang="es-AR" dirty="0" err="1"/>
              <a:t>authRoutes</a:t>
            </a:r>
            <a:r>
              <a:rPr lang="es-AR" dirty="0"/>
              <a:t> </a:t>
            </a:r>
            <a:r>
              <a:rPr lang="es-AR" dirty="0" err="1"/>
              <a:t>from</a:t>
            </a:r>
            <a:r>
              <a:rPr lang="es-AR" dirty="0"/>
              <a:t> './</a:t>
            </a:r>
            <a:r>
              <a:rPr lang="es-AR" dirty="0" err="1"/>
              <a:t>routes</a:t>
            </a:r>
            <a:r>
              <a:rPr lang="es-AR" dirty="0"/>
              <a:t>/auth.routes.js';</a:t>
            </a:r>
          </a:p>
          <a:p>
            <a:pPr marL="0" indent="0">
              <a:buNone/>
            </a:pPr>
            <a:r>
              <a:rPr lang="es-AR" dirty="0" err="1"/>
              <a:t>import</a:t>
            </a:r>
            <a:r>
              <a:rPr lang="es-AR" dirty="0"/>
              <a:t> </a:t>
            </a:r>
            <a:r>
              <a:rPr lang="es-AR" dirty="0" err="1"/>
              <a:t>tareasRoutes</a:t>
            </a:r>
            <a:r>
              <a:rPr lang="es-AR" dirty="0"/>
              <a:t> </a:t>
            </a:r>
            <a:r>
              <a:rPr lang="es-AR" dirty="0" err="1"/>
              <a:t>from</a:t>
            </a:r>
            <a:r>
              <a:rPr lang="es-AR" dirty="0"/>
              <a:t> './</a:t>
            </a:r>
            <a:r>
              <a:rPr lang="es-AR" dirty="0" err="1"/>
              <a:t>routes</a:t>
            </a:r>
            <a:r>
              <a:rPr lang="es-AR" dirty="0"/>
              <a:t>/tareas.routes.js';</a:t>
            </a:r>
          </a:p>
          <a:p>
            <a:pPr marL="0" indent="0">
              <a:buNone/>
            </a:pPr>
            <a:r>
              <a:rPr lang="es-AR" dirty="0" err="1"/>
              <a:t>import</a:t>
            </a:r>
            <a:r>
              <a:rPr lang="es-AR" dirty="0"/>
              <a:t> { </a:t>
            </a:r>
            <a:r>
              <a:rPr lang="es-AR" dirty="0" err="1"/>
              <a:t>manejarErrores</a:t>
            </a:r>
            <a:r>
              <a:rPr lang="es-AR" dirty="0"/>
              <a:t> } </a:t>
            </a:r>
            <a:r>
              <a:rPr lang="es-AR" dirty="0" err="1"/>
              <a:t>from</a:t>
            </a:r>
            <a:r>
              <a:rPr lang="es-AR" dirty="0"/>
              <a:t> './middlewares/manejarErrores.js';</a:t>
            </a:r>
          </a:p>
          <a:p>
            <a:pPr marL="0" indent="0">
              <a:buNone/>
            </a:pPr>
            <a:endParaRPr lang="es-AR" dirty="0"/>
          </a:p>
          <a:p>
            <a:pPr marL="0" indent="0">
              <a:buNone/>
            </a:pPr>
            <a:r>
              <a:rPr lang="es-AR" dirty="0" err="1"/>
              <a:t>const</a:t>
            </a:r>
            <a:r>
              <a:rPr lang="es-AR" dirty="0"/>
              <a:t> app = </a:t>
            </a:r>
            <a:r>
              <a:rPr lang="es-AR" dirty="0" err="1"/>
              <a:t>express</a:t>
            </a:r>
            <a:r>
              <a:rPr lang="es-AR" dirty="0"/>
              <a:t>();</a:t>
            </a:r>
          </a:p>
          <a:p>
            <a:pPr marL="0" indent="0">
              <a:buNone/>
            </a:pPr>
            <a:endParaRPr lang="es-AR" dirty="0"/>
          </a:p>
          <a:p>
            <a:pPr marL="0" indent="0">
              <a:buNone/>
            </a:pPr>
            <a:r>
              <a:rPr lang="es-AR" dirty="0" err="1"/>
              <a:t>app.use</a:t>
            </a:r>
            <a:r>
              <a:rPr lang="es-AR" dirty="0"/>
              <a:t>(</a:t>
            </a:r>
            <a:r>
              <a:rPr lang="es-AR" dirty="0" err="1"/>
              <a:t>express.json</a:t>
            </a:r>
            <a:r>
              <a:rPr lang="es-AR" dirty="0"/>
              <a:t>());</a:t>
            </a:r>
          </a:p>
          <a:p>
            <a:pPr marL="0" indent="0">
              <a:buNone/>
            </a:pPr>
            <a:endParaRPr lang="es-AR" dirty="0"/>
          </a:p>
          <a:p>
            <a:pPr marL="0" indent="0">
              <a:buNone/>
            </a:pPr>
            <a:r>
              <a:rPr lang="es-AR" dirty="0" err="1"/>
              <a:t>app.use</a:t>
            </a:r>
            <a:r>
              <a:rPr lang="es-AR" dirty="0"/>
              <a:t>(</a:t>
            </a:r>
            <a:r>
              <a:rPr lang="es-AR" dirty="0" err="1"/>
              <a:t>authRoutes</a:t>
            </a:r>
            <a:r>
              <a:rPr lang="es-AR" dirty="0"/>
              <a:t>);              </a:t>
            </a:r>
            <a:r>
              <a:rPr lang="es-AR" i="1" dirty="0"/>
              <a:t>// /registro y /login</a:t>
            </a:r>
            <a:endParaRPr lang="es-AR" dirty="0"/>
          </a:p>
          <a:p>
            <a:pPr marL="0" indent="0">
              <a:buNone/>
            </a:pPr>
            <a:r>
              <a:rPr lang="es-AR" dirty="0" err="1"/>
              <a:t>app.use</a:t>
            </a:r>
            <a:r>
              <a:rPr lang="es-AR" dirty="0"/>
              <a:t>('/tareas', </a:t>
            </a:r>
            <a:r>
              <a:rPr lang="es-AR" dirty="0" err="1"/>
              <a:t>tareasRoutes</a:t>
            </a:r>
            <a:r>
              <a:rPr lang="es-AR" dirty="0"/>
              <a:t>); </a:t>
            </a:r>
            <a:r>
              <a:rPr lang="es-AR" i="1" dirty="0"/>
              <a:t>// todo lo que empiece con /tareas</a:t>
            </a:r>
            <a:endParaRPr lang="es-AR" dirty="0"/>
          </a:p>
          <a:p>
            <a:pPr marL="0" indent="0">
              <a:buNone/>
            </a:pPr>
            <a:endParaRPr lang="es-AR" dirty="0"/>
          </a:p>
          <a:p>
            <a:pPr marL="0" indent="0">
              <a:buNone/>
            </a:pPr>
            <a:r>
              <a:rPr lang="es-AR" dirty="0" err="1"/>
              <a:t>app.use</a:t>
            </a:r>
            <a:r>
              <a:rPr lang="es-AR" dirty="0"/>
              <a:t>(</a:t>
            </a:r>
            <a:r>
              <a:rPr lang="es-AR" dirty="0" err="1"/>
              <a:t>manejarErrores</a:t>
            </a:r>
            <a:r>
              <a:rPr lang="es-AR" dirty="0"/>
              <a:t>);          </a:t>
            </a:r>
            <a:r>
              <a:rPr lang="es-AR" i="1" dirty="0"/>
              <a:t>// siempre al final</a:t>
            </a:r>
            <a:endParaRPr lang="es-AR" dirty="0"/>
          </a:p>
          <a:p>
            <a:pPr marL="0" indent="0">
              <a:buNone/>
            </a:pPr>
            <a:endParaRPr lang="es-AR" dirty="0"/>
          </a:p>
          <a:p>
            <a:pPr marL="0" indent="0">
              <a:buNone/>
            </a:pPr>
            <a:r>
              <a:rPr lang="es-AR" dirty="0" err="1"/>
              <a:t>export</a:t>
            </a:r>
            <a:r>
              <a:rPr lang="es-AR" dirty="0"/>
              <a:t> default app;</a:t>
            </a:r>
          </a:p>
          <a:p>
            <a:endParaRPr lang="es-AR" dirty="0"/>
          </a:p>
        </p:txBody>
      </p:sp>
    </p:spTree>
    <p:extLst>
      <p:ext uri="{BB962C8B-B14F-4D97-AF65-F5344CB8AC3E}">
        <p14:creationId xmlns:p14="http://schemas.microsoft.com/office/powerpoint/2010/main" val="2224936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8638E3-D934-6F3B-03DF-7450E72EBECF}"/>
              </a:ext>
            </a:extLst>
          </p:cNvPr>
          <p:cNvSpPr>
            <a:spLocks noGrp="1"/>
          </p:cNvSpPr>
          <p:nvPr>
            <p:ph type="title"/>
          </p:nvPr>
        </p:nvSpPr>
        <p:spPr/>
        <p:txBody>
          <a:bodyPr/>
          <a:lstStyle/>
          <a:p>
            <a:r>
              <a:rPr lang="es-AR" dirty="0" err="1"/>
              <a:t>src</a:t>
            </a:r>
            <a:r>
              <a:rPr lang="es-AR" dirty="0"/>
              <a:t>/server.js</a:t>
            </a:r>
          </a:p>
        </p:txBody>
      </p:sp>
      <p:sp>
        <p:nvSpPr>
          <p:cNvPr id="3" name="Marcador de contenido 2">
            <a:extLst>
              <a:ext uri="{FF2B5EF4-FFF2-40B4-BE49-F238E27FC236}">
                <a16:creationId xmlns:a16="http://schemas.microsoft.com/office/drawing/2014/main" id="{BAB5987E-EEE0-C24D-CC43-A7C22F81A4FE}"/>
              </a:ext>
            </a:extLst>
          </p:cNvPr>
          <p:cNvSpPr>
            <a:spLocks noGrp="1"/>
          </p:cNvSpPr>
          <p:nvPr>
            <p:ph idx="1"/>
          </p:nvPr>
        </p:nvSpPr>
        <p:spPr/>
        <p:txBody>
          <a:bodyPr>
            <a:normAutofit fontScale="85000" lnSpcReduction="20000"/>
          </a:bodyPr>
          <a:lstStyle/>
          <a:p>
            <a:pPr marL="0" indent="0">
              <a:buNone/>
            </a:pPr>
            <a:r>
              <a:rPr lang="es-AR" dirty="0" err="1"/>
              <a:t>import</a:t>
            </a:r>
            <a:r>
              <a:rPr lang="es-AR" dirty="0"/>
              <a:t> '</a:t>
            </a:r>
            <a:r>
              <a:rPr lang="es-AR" dirty="0" err="1"/>
              <a:t>dotenv</a:t>
            </a:r>
            <a:r>
              <a:rPr lang="es-AR" dirty="0"/>
              <a:t>/</a:t>
            </a:r>
            <a:r>
              <a:rPr lang="es-AR" dirty="0" err="1"/>
              <a:t>config</a:t>
            </a:r>
            <a:r>
              <a:rPr lang="es-AR" dirty="0"/>
              <a:t>';</a:t>
            </a:r>
          </a:p>
          <a:p>
            <a:pPr marL="0" indent="0">
              <a:buNone/>
            </a:pPr>
            <a:r>
              <a:rPr lang="es-AR" dirty="0" err="1"/>
              <a:t>import</a:t>
            </a:r>
            <a:r>
              <a:rPr lang="es-AR" dirty="0"/>
              <a:t> app </a:t>
            </a:r>
            <a:r>
              <a:rPr lang="es-AR" dirty="0" err="1"/>
              <a:t>from</a:t>
            </a:r>
            <a:r>
              <a:rPr lang="es-AR" dirty="0"/>
              <a:t> './app.js';</a:t>
            </a:r>
          </a:p>
          <a:p>
            <a:pPr marL="0" indent="0">
              <a:buNone/>
            </a:pPr>
            <a:r>
              <a:rPr lang="es-AR" dirty="0" err="1"/>
              <a:t>import</a:t>
            </a:r>
            <a:r>
              <a:rPr lang="es-AR" dirty="0"/>
              <a:t> { </a:t>
            </a:r>
            <a:r>
              <a:rPr lang="es-AR" dirty="0" err="1"/>
              <a:t>probarConexion</a:t>
            </a:r>
            <a:r>
              <a:rPr lang="es-AR" dirty="0"/>
              <a:t> } </a:t>
            </a:r>
            <a:r>
              <a:rPr lang="es-AR" dirty="0" err="1"/>
              <a:t>from</a:t>
            </a:r>
            <a:r>
              <a:rPr lang="es-AR" dirty="0"/>
              <a:t> './</a:t>
            </a:r>
            <a:r>
              <a:rPr lang="es-AR" dirty="0" err="1"/>
              <a:t>config</a:t>
            </a:r>
            <a:r>
              <a:rPr lang="es-AR" dirty="0"/>
              <a:t>/db.js';</a:t>
            </a:r>
          </a:p>
          <a:p>
            <a:pPr marL="0" indent="0">
              <a:buNone/>
            </a:pPr>
            <a:endParaRPr lang="es-AR" dirty="0"/>
          </a:p>
          <a:p>
            <a:pPr marL="0" indent="0">
              <a:buNone/>
            </a:pPr>
            <a:r>
              <a:rPr lang="es-AR" dirty="0" err="1"/>
              <a:t>const</a:t>
            </a:r>
            <a:r>
              <a:rPr lang="es-AR" dirty="0"/>
              <a:t> PORT = </a:t>
            </a:r>
            <a:r>
              <a:rPr lang="es-AR" dirty="0" err="1"/>
              <a:t>process.env.PORT</a:t>
            </a:r>
            <a:r>
              <a:rPr lang="es-AR" dirty="0"/>
              <a:t> || 3000;</a:t>
            </a:r>
          </a:p>
          <a:p>
            <a:pPr marL="0" indent="0">
              <a:buNone/>
            </a:pPr>
            <a:endParaRPr lang="es-AR" dirty="0"/>
          </a:p>
          <a:p>
            <a:pPr marL="0" indent="0">
              <a:buNone/>
            </a:pPr>
            <a:r>
              <a:rPr lang="es-AR" dirty="0"/>
              <a:t>try {</a:t>
            </a:r>
          </a:p>
          <a:p>
            <a:pPr marL="0" indent="0">
              <a:buNone/>
            </a:pPr>
            <a:r>
              <a:rPr lang="es-AR" dirty="0"/>
              <a:t>  </a:t>
            </a:r>
            <a:r>
              <a:rPr lang="es-AR" dirty="0" err="1"/>
              <a:t>await</a:t>
            </a:r>
            <a:r>
              <a:rPr lang="es-AR" dirty="0"/>
              <a:t> </a:t>
            </a:r>
            <a:r>
              <a:rPr lang="es-AR" dirty="0" err="1"/>
              <a:t>probarConexion</a:t>
            </a:r>
            <a:r>
              <a:rPr lang="es-AR" dirty="0"/>
              <a:t>();</a:t>
            </a:r>
          </a:p>
          <a:p>
            <a:pPr marL="0" indent="0">
              <a:buNone/>
            </a:pPr>
            <a:r>
              <a:rPr lang="es-AR" dirty="0"/>
              <a:t>  </a:t>
            </a:r>
            <a:r>
              <a:rPr lang="es-AR" dirty="0" err="1"/>
              <a:t>app.listen</a:t>
            </a:r>
            <a:r>
              <a:rPr lang="es-AR" dirty="0"/>
              <a:t>(PORT, () =&gt; console.log(`Servidor en http://localhost:${PORT}`));</a:t>
            </a:r>
          </a:p>
          <a:p>
            <a:pPr marL="0" indent="0">
              <a:buNone/>
            </a:pPr>
            <a:r>
              <a:rPr lang="es-AR" dirty="0"/>
              <a:t>} catch (error) {</a:t>
            </a:r>
          </a:p>
          <a:p>
            <a:pPr marL="0" indent="0">
              <a:buNone/>
            </a:pPr>
            <a:r>
              <a:rPr lang="es-AR" dirty="0"/>
              <a:t>  </a:t>
            </a:r>
            <a:r>
              <a:rPr lang="es-AR" dirty="0" err="1"/>
              <a:t>console.error</a:t>
            </a:r>
            <a:r>
              <a:rPr lang="es-AR" dirty="0"/>
              <a:t>('No se pudo conectar a MySQL:', </a:t>
            </a:r>
            <a:r>
              <a:rPr lang="es-AR" dirty="0" err="1"/>
              <a:t>error.message</a:t>
            </a:r>
            <a:r>
              <a:rPr lang="es-AR" dirty="0"/>
              <a:t>);</a:t>
            </a:r>
          </a:p>
          <a:p>
            <a:pPr marL="0" indent="0">
              <a:buNone/>
            </a:pPr>
            <a:r>
              <a:rPr lang="es-AR" dirty="0"/>
              <a:t>  </a:t>
            </a:r>
            <a:r>
              <a:rPr lang="es-AR" dirty="0" err="1"/>
              <a:t>process.exit</a:t>
            </a:r>
            <a:r>
              <a:rPr lang="es-AR" dirty="0"/>
              <a:t>(1);</a:t>
            </a:r>
          </a:p>
          <a:p>
            <a:pPr marL="0" indent="0">
              <a:buNone/>
            </a:pPr>
            <a:r>
              <a:rPr lang="es-AR" dirty="0"/>
              <a:t>}</a:t>
            </a:r>
          </a:p>
          <a:p>
            <a:endParaRPr lang="es-AR" dirty="0"/>
          </a:p>
        </p:txBody>
      </p:sp>
    </p:spTree>
    <p:extLst>
      <p:ext uri="{BB962C8B-B14F-4D97-AF65-F5344CB8AC3E}">
        <p14:creationId xmlns:p14="http://schemas.microsoft.com/office/powerpoint/2010/main" val="17459580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264D1C-F980-8FFD-A04B-EB2E3BC0B074}"/>
              </a:ext>
            </a:extLst>
          </p:cNvPr>
          <p:cNvSpPr>
            <a:spLocks noGrp="1"/>
          </p:cNvSpPr>
          <p:nvPr>
            <p:ph type="title"/>
          </p:nvPr>
        </p:nvSpPr>
        <p:spPr/>
        <p:txBody>
          <a:bodyPr/>
          <a:lstStyle/>
          <a:p>
            <a:r>
              <a:rPr lang="es-AR" cap="all" dirty="0"/>
              <a:t>Cómo funciona, paso a paso</a:t>
            </a:r>
            <a:endParaRPr lang="es-AR" dirty="0"/>
          </a:p>
        </p:txBody>
      </p:sp>
      <p:sp>
        <p:nvSpPr>
          <p:cNvPr id="3" name="Marcador de contenido 2">
            <a:extLst>
              <a:ext uri="{FF2B5EF4-FFF2-40B4-BE49-F238E27FC236}">
                <a16:creationId xmlns:a16="http://schemas.microsoft.com/office/drawing/2014/main" id="{890C06BE-12A3-55DE-A37C-0B243CA8AB4B}"/>
              </a:ext>
            </a:extLst>
          </p:cNvPr>
          <p:cNvSpPr>
            <a:spLocks noGrp="1"/>
          </p:cNvSpPr>
          <p:nvPr>
            <p:ph idx="1"/>
          </p:nvPr>
        </p:nvSpPr>
        <p:spPr/>
        <p:txBody>
          <a:bodyPr>
            <a:normAutofit/>
          </a:bodyPr>
          <a:lstStyle/>
          <a:p>
            <a:pPr lvl="0"/>
            <a:r>
              <a:rPr lang="es-AR" dirty="0"/>
              <a:t>app.js </a:t>
            </a:r>
            <a:r>
              <a:rPr lang="es-AR" b="1" dirty="0"/>
              <a:t>arma</a:t>
            </a:r>
            <a:r>
              <a:rPr lang="es-AR" dirty="0"/>
              <a:t> la aplicación pero no la pone a escuchar; server.js la </a:t>
            </a:r>
            <a:r>
              <a:rPr lang="es-AR" b="1" dirty="0"/>
              <a:t>arranca</a:t>
            </a:r>
            <a:r>
              <a:rPr lang="es-AR" dirty="0"/>
              <a:t>. Separarlos parece un detalle, pero es lo que permite más adelante escribir </a:t>
            </a:r>
            <a:r>
              <a:rPr lang="es-AR" dirty="0" err="1"/>
              <a:t>tests</a:t>
            </a:r>
            <a:r>
              <a:rPr lang="es-AR" dirty="0"/>
              <a:t> que importan app sin levantar un servidor real en un puerto.</a:t>
            </a:r>
          </a:p>
          <a:p>
            <a:pPr lvl="0"/>
            <a:r>
              <a:rPr lang="es-AR" dirty="0" err="1"/>
              <a:t>import</a:t>
            </a:r>
            <a:r>
              <a:rPr lang="es-AR" dirty="0"/>
              <a:t> '</a:t>
            </a:r>
            <a:r>
              <a:rPr lang="es-AR" dirty="0" err="1"/>
              <a:t>dotenv</a:t>
            </a:r>
            <a:r>
              <a:rPr lang="es-AR" dirty="0"/>
              <a:t>/</a:t>
            </a:r>
            <a:r>
              <a:rPr lang="es-AR" dirty="0" err="1"/>
              <a:t>config</a:t>
            </a:r>
            <a:r>
              <a:rPr lang="es-AR" dirty="0"/>
              <a:t>' va en la </a:t>
            </a:r>
            <a:r>
              <a:rPr lang="es-AR" b="1" dirty="0"/>
              <a:t>primera línea</a:t>
            </a:r>
            <a:r>
              <a:rPr lang="es-AR" dirty="0"/>
              <a:t> de server.js. Con ES Modules, los </a:t>
            </a:r>
            <a:r>
              <a:rPr lang="es-AR" dirty="0" err="1"/>
              <a:t>import</a:t>
            </a:r>
            <a:r>
              <a:rPr lang="es-AR" dirty="0"/>
              <a:t> se ejecutan en el orden en que están escritos: si </a:t>
            </a:r>
            <a:r>
              <a:rPr lang="es-AR" dirty="0" err="1"/>
              <a:t>dotenv</a:t>
            </a:r>
            <a:r>
              <a:rPr lang="es-AR" dirty="0"/>
              <a:t> quedara después de ./app.js, el archivo db.js leería </a:t>
            </a:r>
            <a:r>
              <a:rPr lang="es-AR" dirty="0" err="1"/>
              <a:t>process.env.DB_USER</a:t>
            </a:r>
            <a:r>
              <a:rPr lang="es-AR" dirty="0"/>
              <a:t> cuando todavía vale </a:t>
            </a:r>
            <a:r>
              <a:rPr lang="es-AR" dirty="0" err="1"/>
              <a:t>undefined</a:t>
            </a:r>
            <a:r>
              <a:rPr lang="es-AR" dirty="0"/>
              <a:t>.</a:t>
            </a:r>
          </a:p>
          <a:p>
            <a:pPr lvl="0"/>
            <a:r>
              <a:rPr lang="es-AR" dirty="0"/>
              <a:t>El </a:t>
            </a:r>
            <a:r>
              <a:rPr lang="es-AR" dirty="0" err="1"/>
              <a:t>await</a:t>
            </a:r>
            <a:r>
              <a:rPr lang="es-AR" dirty="0"/>
              <a:t> suelto, fuera de una función, se llama </a:t>
            </a:r>
            <a:r>
              <a:rPr lang="es-AR" i="1" dirty="0"/>
              <a:t>top-</a:t>
            </a:r>
            <a:r>
              <a:rPr lang="es-AR" i="1" dirty="0" err="1"/>
              <a:t>level</a:t>
            </a:r>
            <a:r>
              <a:rPr lang="es-AR" i="1" dirty="0"/>
              <a:t> </a:t>
            </a:r>
            <a:r>
              <a:rPr lang="es-AR" i="1" dirty="0" err="1"/>
              <a:t>await</a:t>
            </a:r>
            <a:r>
              <a:rPr lang="es-AR" dirty="0"/>
              <a:t> y funciona porque el proyecto usa "</a:t>
            </a:r>
            <a:r>
              <a:rPr lang="es-AR" dirty="0" err="1"/>
              <a:t>type</a:t>
            </a:r>
            <a:r>
              <a:rPr lang="es-AR" dirty="0"/>
              <a:t>": "module" (clase 11). Se usa para verificar la conexión </a:t>
            </a:r>
            <a:r>
              <a:rPr lang="es-AR" b="1" dirty="0"/>
              <a:t>antes</a:t>
            </a:r>
            <a:r>
              <a:rPr lang="es-AR" dirty="0"/>
              <a:t> de aceptar pedidos: si MySQL no responde, es mejor que el servidor no arranque y lo diga, a que arranque y falle en cada pedido.</a:t>
            </a:r>
          </a:p>
          <a:p>
            <a:pPr lvl="0"/>
            <a:r>
              <a:rPr lang="es-AR" dirty="0"/>
              <a:t>En </a:t>
            </a:r>
            <a:r>
              <a:rPr lang="es-AR" dirty="0" err="1"/>
              <a:t>package.json</a:t>
            </a:r>
            <a:r>
              <a:rPr lang="es-AR" dirty="0"/>
              <a:t>, los scripts pasan a apuntar a la nueva ubicación: "</a:t>
            </a:r>
            <a:r>
              <a:rPr lang="es-AR" dirty="0" err="1"/>
              <a:t>start</a:t>
            </a:r>
            <a:r>
              <a:rPr lang="es-AR" dirty="0"/>
              <a:t>": "</a:t>
            </a:r>
            <a:r>
              <a:rPr lang="es-AR" dirty="0" err="1"/>
              <a:t>node</a:t>
            </a:r>
            <a:r>
              <a:rPr lang="es-AR" dirty="0"/>
              <a:t> </a:t>
            </a:r>
            <a:r>
              <a:rPr lang="es-AR" dirty="0" err="1"/>
              <a:t>src</a:t>
            </a:r>
            <a:r>
              <a:rPr lang="es-AR" dirty="0"/>
              <a:t>/server.js" y "</a:t>
            </a:r>
            <a:r>
              <a:rPr lang="es-AR" dirty="0" err="1"/>
              <a:t>dev</a:t>
            </a:r>
            <a:r>
              <a:rPr lang="es-AR" dirty="0"/>
              <a:t>": "</a:t>
            </a:r>
            <a:r>
              <a:rPr lang="es-AR" dirty="0" err="1"/>
              <a:t>nodemon</a:t>
            </a:r>
            <a:r>
              <a:rPr lang="es-AR" dirty="0"/>
              <a:t> </a:t>
            </a:r>
            <a:r>
              <a:rPr lang="es-AR" dirty="0" err="1"/>
              <a:t>src</a:t>
            </a:r>
            <a:r>
              <a:rPr lang="es-AR" dirty="0"/>
              <a:t>/server.js".</a:t>
            </a:r>
          </a:p>
          <a:p>
            <a:endParaRPr lang="es-AR" dirty="0"/>
          </a:p>
        </p:txBody>
      </p:sp>
    </p:spTree>
    <p:extLst>
      <p:ext uri="{BB962C8B-B14F-4D97-AF65-F5344CB8AC3E}">
        <p14:creationId xmlns:p14="http://schemas.microsoft.com/office/powerpoint/2010/main" val="1101265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16B6DF-AE3D-B6AC-3E9E-84C28F813D4D}"/>
              </a:ext>
            </a:extLst>
          </p:cNvPr>
          <p:cNvSpPr>
            <a:spLocks noGrp="1"/>
          </p:cNvSpPr>
          <p:nvPr>
            <p:ph type="title"/>
          </p:nvPr>
        </p:nvSpPr>
        <p:spPr/>
        <p:txBody>
          <a:bodyPr>
            <a:normAutofit fontScale="90000"/>
          </a:bodyPr>
          <a:lstStyle/>
          <a:p>
            <a:r>
              <a:rPr lang="es-AR" b="1" dirty="0"/>
              <a:t>Rutas con </a:t>
            </a:r>
            <a:r>
              <a:rPr lang="es-AR" b="1" dirty="0" err="1"/>
              <a:t>express.Router</a:t>
            </a:r>
            <a:r>
              <a:rPr lang="es-AR" b="1" dirty="0"/>
              <a:t>()</a:t>
            </a:r>
            <a:br>
              <a:rPr lang="es-AR" b="1" dirty="0"/>
            </a:br>
            <a:r>
              <a:rPr lang="es-AR" dirty="0" err="1"/>
              <a:t>src</a:t>
            </a:r>
            <a:r>
              <a:rPr lang="es-AR" dirty="0"/>
              <a:t>/</a:t>
            </a:r>
            <a:r>
              <a:rPr lang="es-AR" dirty="0" err="1"/>
              <a:t>routes</a:t>
            </a:r>
            <a:r>
              <a:rPr lang="es-AR" dirty="0"/>
              <a:t>/tareas.routes.js</a:t>
            </a:r>
            <a:br>
              <a:rPr lang="es-AR" dirty="0"/>
            </a:br>
            <a:endParaRPr lang="es-AR" dirty="0"/>
          </a:p>
        </p:txBody>
      </p:sp>
      <p:sp>
        <p:nvSpPr>
          <p:cNvPr id="3" name="Marcador de contenido 2">
            <a:extLst>
              <a:ext uri="{FF2B5EF4-FFF2-40B4-BE49-F238E27FC236}">
                <a16:creationId xmlns:a16="http://schemas.microsoft.com/office/drawing/2014/main" id="{93177322-1A88-EAD1-EF8F-54B9BF3A6742}"/>
              </a:ext>
            </a:extLst>
          </p:cNvPr>
          <p:cNvSpPr>
            <a:spLocks noGrp="1"/>
          </p:cNvSpPr>
          <p:nvPr>
            <p:ph idx="1"/>
          </p:nvPr>
        </p:nvSpPr>
        <p:spPr/>
        <p:txBody>
          <a:bodyPr>
            <a:normAutofit fontScale="77500" lnSpcReduction="20000"/>
          </a:bodyPr>
          <a:lstStyle/>
          <a:p>
            <a:r>
              <a:rPr lang="es-AR" dirty="0" err="1"/>
              <a:t>import</a:t>
            </a:r>
            <a:r>
              <a:rPr lang="es-AR" dirty="0"/>
              <a:t> { </a:t>
            </a:r>
            <a:r>
              <a:rPr lang="es-AR" dirty="0" err="1"/>
              <a:t>Router</a:t>
            </a:r>
            <a:r>
              <a:rPr lang="es-AR" dirty="0"/>
              <a:t> } </a:t>
            </a:r>
            <a:r>
              <a:rPr lang="es-AR" dirty="0" err="1"/>
              <a:t>from</a:t>
            </a:r>
            <a:r>
              <a:rPr lang="es-AR" dirty="0"/>
              <a:t> '</a:t>
            </a:r>
            <a:r>
              <a:rPr lang="es-AR" dirty="0" err="1"/>
              <a:t>express</a:t>
            </a:r>
            <a:r>
              <a:rPr lang="es-AR" dirty="0"/>
              <a:t>';</a:t>
            </a:r>
          </a:p>
          <a:p>
            <a:r>
              <a:rPr lang="es-AR" dirty="0" err="1"/>
              <a:t>import</a:t>
            </a:r>
            <a:r>
              <a:rPr lang="es-AR" dirty="0"/>
              <a:t> { </a:t>
            </a:r>
            <a:r>
              <a:rPr lang="es-AR" dirty="0" err="1"/>
              <a:t>requiereAutenticacion</a:t>
            </a:r>
            <a:r>
              <a:rPr lang="es-AR" dirty="0"/>
              <a:t> } </a:t>
            </a:r>
            <a:r>
              <a:rPr lang="es-AR" dirty="0" err="1"/>
              <a:t>from</a:t>
            </a:r>
            <a:r>
              <a:rPr lang="es-AR" dirty="0"/>
              <a:t> '../middlewares/requiereAutenticacion.js';</a:t>
            </a:r>
          </a:p>
          <a:p>
            <a:r>
              <a:rPr lang="es-AR" dirty="0" err="1"/>
              <a:t>import</a:t>
            </a:r>
            <a:r>
              <a:rPr lang="es-AR" dirty="0"/>
              <a:t> * as controlador </a:t>
            </a:r>
            <a:r>
              <a:rPr lang="es-AR" dirty="0" err="1"/>
              <a:t>from</a:t>
            </a:r>
            <a:r>
              <a:rPr lang="es-AR" dirty="0"/>
              <a:t> '../</a:t>
            </a:r>
            <a:r>
              <a:rPr lang="es-AR" dirty="0" err="1"/>
              <a:t>controllers</a:t>
            </a:r>
            <a:r>
              <a:rPr lang="es-AR" dirty="0"/>
              <a:t>/tareas.controller.js';</a:t>
            </a:r>
          </a:p>
          <a:p>
            <a:endParaRPr lang="es-AR" dirty="0"/>
          </a:p>
          <a:p>
            <a:r>
              <a:rPr lang="es-AR" dirty="0" err="1"/>
              <a:t>const</a:t>
            </a:r>
            <a:r>
              <a:rPr lang="es-AR" dirty="0"/>
              <a:t> </a:t>
            </a:r>
            <a:r>
              <a:rPr lang="es-AR" dirty="0" err="1"/>
              <a:t>router</a:t>
            </a:r>
            <a:r>
              <a:rPr lang="es-AR" dirty="0"/>
              <a:t> = </a:t>
            </a:r>
            <a:r>
              <a:rPr lang="es-AR" dirty="0" err="1"/>
              <a:t>Router</a:t>
            </a:r>
            <a:r>
              <a:rPr lang="es-AR" dirty="0"/>
              <a:t>();</a:t>
            </a:r>
          </a:p>
          <a:p>
            <a:endParaRPr lang="es-AR" dirty="0"/>
          </a:p>
          <a:p>
            <a:r>
              <a:rPr lang="es-AR" dirty="0" err="1"/>
              <a:t>router.use</a:t>
            </a:r>
            <a:r>
              <a:rPr lang="es-AR" dirty="0"/>
              <a:t>(</a:t>
            </a:r>
            <a:r>
              <a:rPr lang="es-AR" dirty="0" err="1"/>
              <a:t>requiereAutenticacion</a:t>
            </a:r>
            <a:r>
              <a:rPr lang="es-AR" dirty="0"/>
              <a:t>); </a:t>
            </a:r>
            <a:r>
              <a:rPr lang="es-AR" i="1" dirty="0"/>
              <a:t>// protege TODAS las rutas de este archivo</a:t>
            </a:r>
            <a:endParaRPr lang="es-AR" dirty="0"/>
          </a:p>
          <a:p>
            <a:endParaRPr lang="es-AR" dirty="0"/>
          </a:p>
          <a:p>
            <a:r>
              <a:rPr lang="es-AR" dirty="0" err="1"/>
              <a:t>router.get</a:t>
            </a:r>
            <a:r>
              <a:rPr lang="es-AR" dirty="0"/>
              <a:t>('/', </a:t>
            </a:r>
            <a:r>
              <a:rPr lang="es-AR" dirty="0" err="1"/>
              <a:t>controlador.listar</a:t>
            </a:r>
            <a:r>
              <a:rPr lang="es-AR" dirty="0"/>
              <a:t>);</a:t>
            </a:r>
          </a:p>
          <a:p>
            <a:r>
              <a:rPr lang="es-AR" dirty="0" err="1"/>
              <a:t>router.post</a:t>
            </a:r>
            <a:r>
              <a:rPr lang="es-AR" dirty="0"/>
              <a:t>('/', </a:t>
            </a:r>
            <a:r>
              <a:rPr lang="es-AR" dirty="0" err="1"/>
              <a:t>controlador.crear</a:t>
            </a:r>
            <a:r>
              <a:rPr lang="es-AR" dirty="0"/>
              <a:t>);</a:t>
            </a:r>
          </a:p>
          <a:p>
            <a:r>
              <a:rPr lang="es-AR" dirty="0" err="1"/>
              <a:t>router.patch</a:t>
            </a:r>
            <a:r>
              <a:rPr lang="es-AR" dirty="0"/>
              <a:t>('/:id', </a:t>
            </a:r>
            <a:r>
              <a:rPr lang="es-AR" dirty="0" err="1"/>
              <a:t>controlador.alternar</a:t>
            </a:r>
            <a:r>
              <a:rPr lang="es-AR" dirty="0"/>
              <a:t>);</a:t>
            </a:r>
          </a:p>
          <a:p>
            <a:r>
              <a:rPr lang="es-AR" dirty="0" err="1"/>
              <a:t>router.delete</a:t>
            </a:r>
            <a:r>
              <a:rPr lang="es-AR" dirty="0"/>
              <a:t>('/:id', </a:t>
            </a:r>
            <a:r>
              <a:rPr lang="es-AR" dirty="0" err="1"/>
              <a:t>controlador.eliminar</a:t>
            </a:r>
            <a:r>
              <a:rPr lang="es-AR" dirty="0"/>
              <a:t>);</a:t>
            </a:r>
          </a:p>
          <a:p>
            <a:endParaRPr lang="es-AR" dirty="0"/>
          </a:p>
          <a:p>
            <a:r>
              <a:rPr lang="es-AR" dirty="0" err="1"/>
              <a:t>export</a:t>
            </a:r>
            <a:r>
              <a:rPr lang="es-AR" dirty="0"/>
              <a:t> default </a:t>
            </a:r>
            <a:r>
              <a:rPr lang="es-AR" dirty="0" err="1"/>
              <a:t>router</a:t>
            </a:r>
            <a:r>
              <a:rPr lang="es-AR" dirty="0"/>
              <a:t>;</a:t>
            </a:r>
          </a:p>
          <a:p>
            <a:endParaRPr lang="es-AR" dirty="0"/>
          </a:p>
        </p:txBody>
      </p:sp>
    </p:spTree>
    <p:extLst>
      <p:ext uri="{BB962C8B-B14F-4D97-AF65-F5344CB8AC3E}">
        <p14:creationId xmlns:p14="http://schemas.microsoft.com/office/powerpoint/2010/main" val="82372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3346775-689B-CBC2-5F25-68D0E43D9143}"/>
              </a:ext>
            </a:extLst>
          </p:cNvPr>
          <p:cNvSpPr>
            <a:spLocks noGrp="1"/>
          </p:cNvSpPr>
          <p:nvPr>
            <p:ph idx="1"/>
          </p:nvPr>
        </p:nvSpPr>
        <p:spPr>
          <a:xfrm>
            <a:off x="838200" y="1348033"/>
            <a:ext cx="10515600" cy="4828930"/>
          </a:xfrm>
        </p:spPr>
        <p:txBody>
          <a:bodyPr/>
          <a:lstStyle/>
          <a:p>
            <a:r>
              <a:rPr lang="es-AR" dirty="0"/>
              <a:t>Un </a:t>
            </a:r>
            <a:r>
              <a:rPr lang="es-AR" dirty="0" err="1"/>
              <a:t>Router</a:t>
            </a:r>
            <a:r>
              <a:rPr lang="es-AR" dirty="0"/>
              <a:t> es una "mini app" de Express: tiene sus propios .</a:t>
            </a:r>
            <a:r>
              <a:rPr lang="es-AR" dirty="0" err="1"/>
              <a:t>get</a:t>
            </a:r>
            <a:r>
              <a:rPr lang="es-AR" dirty="0"/>
              <a:t>(), .post() y .use(), y después se monta en la app principal con </a:t>
            </a:r>
            <a:r>
              <a:rPr lang="es-AR" dirty="0" err="1"/>
              <a:t>app.use</a:t>
            </a:r>
            <a:r>
              <a:rPr lang="es-AR" dirty="0"/>
              <a:t>('/tareas', </a:t>
            </a:r>
            <a:r>
              <a:rPr lang="es-AR" dirty="0" err="1"/>
              <a:t>tareasRoutes</a:t>
            </a:r>
            <a:r>
              <a:rPr lang="es-AR" dirty="0"/>
              <a:t>). Por eso adentro del archivo las rutas son '/' y '/:id', no '/tareas': el prefijo lo pone quien lo monta. Y </a:t>
            </a:r>
            <a:r>
              <a:rPr lang="es-AR" dirty="0" err="1"/>
              <a:t>router.use</a:t>
            </a:r>
            <a:r>
              <a:rPr lang="es-AR" dirty="0"/>
              <a:t>(</a:t>
            </a:r>
            <a:r>
              <a:rPr lang="es-AR" dirty="0" err="1"/>
              <a:t>requiereAutenticacion</a:t>
            </a:r>
            <a:r>
              <a:rPr lang="es-AR" dirty="0"/>
              <a:t>) resuelve de una vez lo que en la clase 18 había que repetir en cada ruta, sin afectar a /registro ni /login, que viven en otro </a:t>
            </a:r>
            <a:r>
              <a:rPr lang="es-AR" dirty="0" err="1"/>
              <a:t>router</a:t>
            </a:r>
            <a:r>
              <a:rPr lang="es-AR" dirty="0"/>
              <a:t>.</a:t>
            </a:r>
          </a:p>
        </p:txBody>
      </p:sp>
    </p:spTree>
    <p:extLst>
      <p:ext uri="{BB962C8B-B14F-4D97-AF65-F5344CB8AC3E}">
        <p14:creationId xmlns:p14="http://schemas.microsoft.com/office/powerpoint/2010/main" val="37322915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3723CB-F1C5-3358-1D5B-41207A070BFD}"/>
              </a:ext>
            </a:extLst>
          </p:cNvPr>
          <p:cNvSpPr>
            <a:spLocks noGrp="1"/>
          </p:cNvSpPr>
          <p:nvPr>
            <p:ph type="title"/>
          </p:nvPr>
        </p:nvSpPr>
        <p:spPr/>
        <p:txBody>
          <a:bodyPr/>
          <a:lstStyle/>
          <a:p>
            <a:r>
              <a:rPr lang="es-AR" b="1" dirty="0"/>
              <a:t>Parte 2 · De SQLite a MySQL</a:t>
            </a:r>
            <a:endParaRPr lang="es-AR" dirty="0"/>
          </a:p>
        </p:txBody>
      </p:sp>
      <p:sp>
        <p:nvSpPr>
          <p:cNvPr id="3" name="Marcador de contenido 2">
            <a:extLst>
              <a:ext uri="{FF2B5EF4-FFF2-40B4-BE49-F238E27FC236}">
                <a16:creationId xmlns:a16="http://schemas.microsoft.com/office/drawing/2014/main" id="{9078FBAE-DA5E-BDFC-F4E5-2A49A3F1378B}"/>
              </a:ext>
            </a:extLst>
          </p:cNvPr>
          <p:cNvSpPr>
            <a:spLocks noGrp="1"/>
          </p:cNvSpPr>
          <p:nvPr>
            <p:ph idx="1"/>
          </p:nvPr>
        </p:nvSpPr>
        <p:spPr/>
        <p:txBody>
          <a:bodyPr/>
          <a:lstStyle/>
          <a:p>
            <a:r>
              <a:rPr lang="es-AR" dirty="0"/>
              <a:t>En la clase 16 vimos que existen dos familias de bases de datos: las que son un </a:t>
            </a:r>
            <a:r>
              <a:rPr lang="es-AR" i="1" dirty="0"/>
              <a:t>archivo</a:t>
            </a:r>
            <a:r>
              <a:rPr lang="es-AR" dirty="0"/>
              <a:t> (SQLite) y las que son un </a:t>
            </a:r>
            <a:r>
              <a:rPr lang="es-AR" i="1" dirty="0"/>
              <a:t>servidor</a:t>
            </a:r>
            <a:r>
              <a:rPr lang="es-AR" dirty="0"/>
              <a:t> aparte. MySQL es de las segundas: un programa que corre por su cuenta, escucha en el puerto 3306, y al que el servidor </a:t>
            </a:r>
            <a:r>
              <a:rPr lang="es-AR" dirty="0" err="1"/>
              <a:t>Node</a:t>
            </a:r>
            <a:r>
              <a:rPr lang="es-AR" dirty="0"/>
              <a:t> se conecta por red — aunque estén en la misma computadora.</a:t>
            </a:r>
          </a:p>
        </p:txBody>
      </p:sp>
      <p:pic>
        <p:nvPicPr>
          <p:cNvPr id="5" name="Imagen 4">
            <a:extLst>
              <a:ext uri="{FF2B5EF4-FFF2-40B4-BE49-F238E27FC236}">
                <a16:creationId xmlns:a16="http://schemas.microsoft.com/office/drawing/2014/main" id="{01225157-A06B-CBC2-4520-7DE91A5DED3C}"/>
              </a:ext>
            </a:extLst>
          </p:cNvPr>
          <p:cNvPicPr>
            <a:picLocks noChangeAspect="1"/>
          </p:cNvPicPr>
          <p:nvPr/>
        </p:nvPicPr>
        <p:blipFill>
          <a:blip r:embed="rId2"/>
          <a:stretch>
            <a:fillRect/>
          </a:stretch>
        </p:blipFill>
        <p:spPr>
          <a:xfrm>
            <a:off x="1502848" y="3868788"/>
            <a:ext cx="9038617" cy="2443111"/>
          </a:xfrm>
          <a:prstGeom prst="rect">
            <a:avLst/>
          </a:prstGeom>
        </p:spPr>
      </p:pic>
    </p:spTree>
    <p:extLst>
      <p:ext uri="{BB962C8B-B14F-4D97-AF65-F5344CB8AC3E}">
        <p14:creationId xmlns:p14="http://schemas.microsoft.com/office/powerpoint/2010/main" val="41692721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A31DFBF-342B-A804-7552-6319553E07CD}"/>
              </a:ext>
            </a:extLst>
          </p:cNvPr>
          <p:cNvSpPr>
            <a:spLocks noGrp="1"/>
          </p:cNvSpPr>
          <p:nvPr>
            <p:ph idx="1"/>
          </p:nvPr>
        </p:nvSpPr>
        <p:spPr/>
        <p:txBody>
          <a:bodyPr/>
          <a:lstStyle/>
          <a:p>
            <a:r>
              <a:rPr lang="es-AR" dirty="0"/>
              <a:t>Para la clase alcanza con tener MySQL 8 instalado localmente — con el instalador oficial (MySQL </a:t>
            </a:r>
            <a:r>
              <a:rPr lang="es-AR" dirty="0" err="1"/>
              <a:t>Community</a:t>
            </a:r>
            <a:r>
              <a:rPr lang="es-AR" dirty="0"/>
              <a:t> Server + </a:t>
            </a:r>
            <a:r>
              <a:rPr lang="es-AR" dirty="0" err="1"/>
              <a:t>Workbench</a:t>
            </a:r>
            <a:r>
              <a:rPr lang="es-AR" dirty="0"/>
              <a:t>), con XAMPP/</a:t>
            </a:r>
            <a:r>
              <a:rPr lang="es-AR" dirty="0" err="1"/>
              <a:t>Laragon</a:t>
            </a:r>
            <a:r>
              <a:rPr lang="es-AR" dirty="0"/>
              <a:t> (que traen </a:t>
            </a:r>
            <a:r>
              <a:rPr lang="es-AR" dirty="0" err="1"/>
              <a:t>MariaDB</a:t>
            </a:r>
            <a:r>
              <a:rPr lang="es-AR" dirty="0"/>
              <a:t>, compatible para todo lo que vamos a hacer), o con Docker si ya lo tienen:</a:t>
            </a:r>
          </a:p>
          <a:p>
            <a:pPr marL="0" indent="0">
              <a:buNone/>
            </a:pPr>
            <a:r>
              <a:rPr lang="es-AR" dirty="0">
                <a:highlight>
                  <a:srgbClr val="FFFF00"/>
                </a:highlight>
              </a:rPr>
              <a:t>terminal (opcional, con Docker)</a:t>
            </a:r>
          </a:p>
          <a:p>
            <a:r>
              <a:rPr lang="es-AR" dirty="0" err="1"/>
              <a:t>docker</a:t>
            </a:r>
            <a:r>
              <a:rPr lang="es-AR" dirty="0"/>
              <a:t> run --</a:t>
            </a:r>
            <a:r>
              <a:rPr lang="es-AR" dirty="0" err="1"/>
              <a:t>name</a:t>
            </a:r>
            <a:r>
              <a:rPr lang="es-AR" dirty="0"/>
              <a:t> </a:t>
            </a:r>
            <a:r>
              <a:rPr lang="es-AR" dirty="0" err="1"/>
              <a:t>mysql</a:t>
            </a:r>
            <a:r>
              <a:rPr lang="es-AR" dirty="0"/>
              <a:t>-tareas -e MYSQL_ROOT_PASSWORD=</a:t>
            </a:r>
            <a:r>
              <a:rPr lang="es-AR" dirty="0" err="1"/>
              <a:t>root</a:t>
            </a:r>
            <a:r>
              <a:rPr lang="es-AR" dirty="0"/>
              <a:t> -p 3306:3306 -d mysql:8</a:t>
            </a:r>
          </a:p>
          <a:p>
            <a:endParaRPr lang="es-AR" dirty="0"/>
          </a:p>
        </p:txBody>
      </p:sp>
    </p:spTree>
    <p:extLst>
      <p:ext uri="{BB962C8B-B14F-4D97-AF65-F5344CB8AC3E}">
        <p14:creationId xmlns:p14="http://schemas.microsoft.com/office/powerpoint/2010/main" val="30631161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F58785-9362-1CE6-0F50-09F27A808B5E}"/>
              </a:ext>
            </a:extLst>
          </p:cNvPr>
          <p:cNvSpPr>
            <a:spLocks noGrp="1"/>
          </p:cNvSpPr>
          <p:nvPr>
            <p:ph type="title"/>
          </p:nvPr>
        </p:nvSpPr>
        <p:spPr/>
        <p:txBody>
          <a:bodyPr/>
          <a:lstStyle/>
          <a:p>
            <a:r>
              <a:rPr lang="es-AR" b="1" dirty="0"/>
              <a:t>Crear la base y las tablas: </a:t>
            </a:r>
            <a:r>
              <a:rPr lang="es-AR" b="1" dirty="0" err="1"/>
              <a:t>schema.sql</a:t>
            </a:r>
            <a:endParaRPr lang="es-AR" dirty="0"/>
          </a:p>
        </p:txBody>
      </p:sp>
      <p:sp>
        <p:nvSpPr>
          <p:cNvPr id="3" name="Marcador de contenido 2">
            <a:extLst>
              <a:ext uri="{FF2B5EF4-FFF2-40B4-BE49-F238E27FC236}">
                <a16:creationId xmlns:a16="http://schemas.microsoft.com/office/drawing/2014/main" id="{9D76D6AB-0C5B-2493-FD60-BF8DE75BB5D4}"/>
              </a:ext>
            </a:extLst>
          </p:cNvPr>
          <p:cNvSpPr>
            <a:spLocks noGrp="1"/>
          </p:cNvSpPr>
          <p:nvPr>
            <p:ph idx="1"/>
          </p:nvPr>
        </p:nvSpPr>
        <p:spPr/>
        <p:txBody>
          <a:bodyPr/>
          <a:lstStyle/>
          <a:p>
            <a:r>
              <a:rPr lang="es-AR" dirty="0"/>
              <a:t>En SQLite las tablas se creaban desde el propio código con CREATE TABLE IF NOT EXISTS al arrancar. Con un servidor de base de datos, la práctica habitual es otra: la estructura vive en un archivo .</a:t>
            </a:r>
            <a:r>
              <a:rPr lang="es-AR" dirty="0" err="1"/>
              <a:t>sql</a:t>
            </a:r>
            <a:r>
              <a:rPr lang="es-AR" dirty="0"/>
              <a:t> versionado junto al proyecto, y se ejecuta una vez (o cada vez que cambia) desde un cliente de MySQL.</a:t>
            </a:r>
          </a:p>
        </p:txBody>
      </p:sp>
    </p:spTree>
    <p:extLst>
      <p:ext uri="{BB962C8B-B14F-4D97-AF65-F5344CB8AC3E}">
        <p14:creationId xmlns:p14="http://schemas.microsoft.com/office/powerpoint/2010/main" val="41763519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7DFF72-A3B0-45D0-1EA8-2FA07C0F1680}"/>
              </a:ext>
            </a:extLst>
          </p:cNvPr>
          <p:cNvSpPr>
            <a:spLocks noGrp="1"/>
          </p:cNvSpPr>
          <p:nvPr>
            <p:ph type="title"/>
          </p:nvPr>
        </p:nvSpPr>
        <p:spPr>
          <a:xfrm>
            <a:off x="838200" y="176588"/>
            <a:ext cx="10515600" cy="1325563"/>
          </a:xfrm>
        </p:spPr>
        <p:txBody>
          <a:bodyPr/>
          <a:lstStyle/>
          <a:p>
            <a:r>
              <a:rPr lang="es-AR" dirty="0" err="1"/>
              <a:t>database</a:t>
            </a:r>
            <a:r>
              <a:rPr lang="es-AR" dirty="0"/>
              <a:t>/</a:t>
            </a:r>
            <a:r>
              <a:rPr lang="es-AR" dirty="0" err="1"/>
              <a:t>schema.sql</a:t>
            </a:r>
            <a:endParaRPr lang="es-AR" dirty="0"/>
          </a:p>
        </p:txBody>
      </p:sp>
      <p:pic>
        <p:nvPicPr>
          <p:cNvPr id="5" name="Marcador de contenido 4">
            <a:extLst>
              <a:ext uri="{FF2B5EF4-FFF2-40B4-BE49-F238E27FC236}">
                <a16:creationId xmlns:a16="http://schemas.microsoft.com/office/drawing/2014/main" id="{21066094-BD8B-4354-2234-57CDD25302A9}"/>
              </a:ext>
            </a:extLst>
          </p:cNvPr>
          <p:cNvPicPr>
            <a:picLocks noGrp="1" noChangeAspect="1"/>
          </p:cNvPicPr>
          <p:nvPr>
            <p:ph idx="1"/>
          </p:nvPr>
        </p:nvPicPr>
        <p:blipFill>
          <a:blip r:embed="rId2"/>
          <a:stretch>
            <a:fillRect/>
          </a:stretch>
        </p:blipFill>
        <p:spPr>
          <a:xfrm>
            <a:off x="1545997" y="1223999"/>
            <a:ext cx="8020144" cy="5028378"/>
          </a:xfrm>
          <a:prstGeom prst="rect">
            <a:avLst/>
          </a:prstGeom>
        </p:spPr>
      </p:pic>
    </p:spTree>
    <p:extLst>
      <p:ext uri="{BB962C8B-B14F-4D97-AF65-F5344CB8AC3E}">
        <p14:creationId xmlns:p14="http://schemas.microsoft.com/office/powerpoint/2010/main" val="30451179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BEDE4271-CAD3-4DCC-2159-BCA9E97BA56D}"/>
              </a:ext>
            </a:extLst>
          </p:cNvPr>
          <p:cNvPicPr>
            <a:picLocks noGrp="1" noChangeAspect="1"/>
          </p:cNvPicPr>
          <p:nvPr>
            <p:ph idx="1"/>
          </p:nvPr>
        </p:nvPicPr>
        <p:blipFill>
          <a:blip r:embed="rId2"/>
          <a:stretch>
            <a:fillRect/>
          </a:stretch>
        </p:blipFill>
        <p:spPr>
          <a:xfrm>
            <a:off x="598399" y="245097"/>
            <a:ext cx="9410172" cy="5469953"/>
          </a:xfrm>
          <a:prstGeom prst="rect">
            <a:avLst/>
          </a:prstGeom>
        </p:spPr>
      </p:pic>
    </p:spTree>
    <p:extLst>
      <p:ext uri="{BB962C8B-B14F-4D97-AF65-F5344CB8AC3E}">
        <p14:creationId xmlns:p14="http://schemas.microsoft.com/office/powerpoint/2010/main" val="27417024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C7FA20-CB75-9810-207F-AD63A41B9C78}"/>
              </a:ext>
            </a:extLst>
          </p:cNvPr>
          <p:cNvSpPr>
            <a:spLocks noGrp="1"/>
          </p:cNvSpPr>
          <p:nvPr>
            <p:ph type="title"/>
          </p:nvPr>
        </p:nvSpPr>
        <p:spPr/>
        <p:txBody>
          <a:bodyPr/>
          <a:lstStyle/>
          <a:p>
            <a:r>
              <a:rPr lang="es-AR" cap="all" dirty="0"/>
              <a:t>Buena práctica: un usuario por aplicación</a:t>
            </a:r>
            <a:endParaRPr lang="es-AR" dirty="0"/>
          </a:p>
        </p:txBody>
      </p:sp>
      <p:sp>
        <p:nvSpPr>
          <p:cNvPr id="3" name="Marcador de contenido 2">
            <a:extLst>
              <a:ext uri="{FF2B5EF4-FFF2-40B4-BE49-F238E27FC236}">
                <a16:creationId xmlns:a16="http://schemas.microsoft.com/office/drawing/2014/main" id="{B98EA81F-7F5F-0C03-5E7A-2199457C8BFB}"/>
              </a:ext>
            </a:extLst>
          </p:cNvPr>
          <p:cNvSpPr>
            <a:spLocks noGrp="1"/>
          </p:cNvSpPr>
          <p:nvPr>
            <p:ph idx="1"/>
          </p:nvPr>
        </p:nvSpPr>
        <p:spPr/>
        <p:txBody>
          <a:bodyPr/>
          <a:lstStyle/>
          <a:p>
            <a:r>
              <a:rPr lang="es-AR" dirty="0"/>
              <a:t>Conectarse como </a:t>
            </a:r>
            <a:r>
              <a:rPr lang="es-AR" dirty="0" err="1"/>
              <a:t>root</a:t>
            </a:r>
            <a:r>
              <a:rPr lang="es-AR" dirty="0"/>
              <a:t> funciona, pero le da a la app permiso para borrar cualquier base del servidor. Lo habitual es crear un usuario solo para este proyecto, con permisos solo sobre su base:</a:t>
            </a:r>
          </a:p>
        </p:txBody>
      </p:sp>
      <p:pic>
        <p:nvPicPr>
          <p:cNvPr id="5" name="Imagen 4">
            <a:extLst>
              <a:ext uri="{FF2B5EF4-FFF2-40B4-BE49-F238E27FC236}">
                <a16:creationId xmlns:a16="http://schemas.microsoft.com/office/drawing/2014/main" id="{831C7E85-DDD6-097C-ED98-968C9001DB55}"/>
              </a:ext>
            </a:extLst>
          </p:cNvPr>
          <p:cNvPicPr>
            <a:picLocks noChangeAspect="1"/>
          </p:cNvPicPr>
          <p:nvPr/>
        </p:nvPicPr>
        <p:blipFill>
          <a:blip r:embed="rId2"/>
          <a:stretch>
            <a:fillRect/>
          </a:stretch>
        </p:blipFill>
        <p:spPr>
          <a:xfrm>
            <a:off x="977248" y="3429000"/>
            <a:ext cx="10237503" cy="1416845"/>
          </a:xfrm>
          <a:prstGeom prst="rect">
            <a:avLst/>
          </a:prstGeom>
        </p:spPr>
      </p:pic>
    </p:spTree>
    <p:extLst>
      <p:ext uri="{BB962C8B-B14F-4D97-AF65-F5344CB8AC3E}">
        <p14:creationId xmlns:p14="http://schemas.microsoft.com/office/powerpoint/2010/main" val="26499972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7974EF-334E-A57D-5E36-DB94116244CD}"/>
              </a:ext>
            </a:extLst>
          </p:cNvPr>
          <p:cNvSpPr>
            <a:spLocks noGrp="1"/>
          </p:cNvSpPr>
          <p:nvPr>
            <p:ph type="title"/>
          </p:nvPr>
        </p:nvSpPr>
        <p:spPr/>
        <p:txBody>
          <a:bodyPr/>
          <a:lstStyle/>
          <a:p>
            <a:r>
              <a:rPr lang="es-AR" b="1" dirty="0"/>
              <a:t>Configuración: .</a:t>
            </a:r>
            <a:r>
              <a:rPr lang="es-AR" b="1" dirty="0" err="1"/>
              <a:t>env</a:t>
            </a:r>
            <a:r>
              <a:rPr lang="es-AR" b="1" dirty="0"/>
              <a:t> y </a:t>
            </a:r>
            <a:r>
              <a:rPr lang="es-AR" b="1" dirty="0" err="1"/>
              <a:t>config</a:t>
            </a:r>
            <a:r>
              <a:rPr lang="es-AR" b="1" dirty="0"/>
              <a:t>/db.js</a:t>
            </a:r>
            <a:endParaRPr lang="es-AR" dirty="0"/>
          </a:p>
        </p:txBody>
      </p:sp>
      <p:pic>
        <p:nvPicPr>
          <p:cNvPr id="5" name="Marcador de contenido 4">
            <a:extLst>
              <a:ext uri="{FF2B5EF4-FFF2-40B4-BE49-F238E27FC236}">
                <a16:creationId xmlns:a16="http://schemas.microsoft.com/office/drawing/2014/main" id="{E83DA3CF-3332-403E-778E-EFEC64AE5EC9}"/>
              </a:ext>
            </a:extLst>
          </p:cNvPr>
          <p:cNvPicPr>
            <a:picLocks noGrp="1" noChangeAspect="1"/>
          </p:cNvPicPr>
          <p:nvPr>
            <p:ph idx="1"/>
          </p:nvPr>
        </p:nvPicPr>
        <p:blipFill>
          <a:blip r:embed="rId2"/>
          <a:stretch>
            <a:fillRect/>
          </a:stretch>
        </p:blipFill>
        <p:spPr>
          <a:xfrm>
            <a:off x="944663" y="1591493"/>
            <a:ext cx="8916456" cy="906609"/>
          </a:xfrm>
          <a:prstGeom prst="rect">
            <a:avLst/>
          </a:prstGeom>
        </p:spPr>
      </p:pic>
      <p:pic>
        <p:nvPicPr>
          <p:cNvPr id="7" name="Imagen 6">
            <a:extLst>
              <a:ext uri="{FF2B5EF4-FFF2-40B4-BE49-F238E27FC236}">
                <a16:creationId xmlns:a16="http://schemas.microsoft.com/office/drawing/2014/main" id="{1321B52F-05B6-D2A2-3B35-8EC8B1281E51}"/>
              </a:ext>
            </a:extLst>
          </p:cNvPr>
          <p:cNvPicPr>
            <a:picLocks noChangeAspect="1"/>
          </p:cNvPicPr>
          <p:nvPr/>
        </p:nvPicPr>
        <p:blipFill>
          <a:blip r:embed="rId3"/>
          <a:stretch>
            <a:fillRect/>
          </a:stretch>
        </p:blipFill>
        <p:spPr>
          <a:xfrm>
            <a:off x="944662" y="2749819"/>
            <a:ext cx="8916455" cy="2619374"/>
          </a:xfrm>
          <a:prstGeom prst="rect">
            <a:avLst/>
          </a:prstGeom>
        </p:spPr>
      </p:pic>
    </p:spTree>
    <p:extLst>
      <p:ext uri="{BB962C8B-B14F-4D97-AF65-F5344CB8AC3E}">
        <p14:creationId xmlns:p14="http://schemas.microsoft.com/office/powerpoint/2010/main" val="7158777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9A17ABB4-12F2-9FBC-E27A-FBB1C8854D77}"/>
              </a:ext>
            </a:extLst>
          </p:cNvPr>
          <p:cNvPicPr>
            <a:picLocks noGrp="1" noChangeAspect="1"/>
          </p:cNvPicPr>
          <p:nvPr>
            <p:ph idx="1"/>
          </p:nvPr>
        </p:nvPicPr>
        <p:blipFill>
          <a:blip r:embed="rId2"/>
          <a:stretch>
            <a:fillRect/>
          </a:stretch>
        </p:blipFill>
        <p:spPr>
          <a:xfrm>
            <a:off x="1158507" y="1027906"/>
            <a:ext cx="9487321" cy="4879729"/>
          </a:xfrm>
          <a:prstGeom prst="rect">
            <a:avLst/>
          </a:prstGeom>
        </p:spPr>
      </p:pic>
    </p:spTree>
    <p:extLst>
      <p:ext uri="{BB962C8B-B14F-4D97-AF65-F5344CB8AC3E}">
        <p14:creationId xmlns:p14="http://schemas.microsoft.com/office/powerpoint/2010/main" val="28804607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CF92F1-3CC6-4AD9-127D-238DC4B168EF}"/>
              </a:ext>
            </a:extLst>
          </p:cNvPr>
          <p:cNvSpPr>
            <a:spLocks noGrp="1"/>
          </p:cNvSpPr>
          <p:nvPr>
            <p:ph type="title"/>
          </p:nvPr>
        </p:nvSpPr>
        <p:spPr/>
        <p:txBody>
          <a:bodyPr/>
          <a:lstStyle/>
          <a:p>
            <a:r>
              <a:rPr lang="es-AR" cap="all" dirty="0"/>
              <a:t>Cómo funciona, paso a paso</a:t>
            </a:r>
            <a:endParaRPr lang="es-AR" dirty="0"/>
          </a:p>
        </p:txBody>
      </p:sp>
      <p:sp>
        <p:nvSpPr>
          <p:cNvPr id="3" name="Marcador de contenido 2">
            <a:extLst>
              <a:ext uri="{FF2B5EF4-FFF2-40B4-BE49-F238E27FC236}">
                <a16:creationId xmlns:a16="http://schemas.microsoft.com/office/drawing/2014/main" id="{1A0F96F8-A65A-9A5F-37D3-1066208A8E7C}"/>
              </a:ext>
            </a:extLst>
          </p:cNvPr>
          <p:cNvSpPr>
            <a:spLocks noGrp="1"/>
          </p:cNvSpPr>
          <p:nvPr>
            <p:ph idx="1"/>
          </p:nvPr>
        </p:nvSpPr>
        <p:spPr/>
        <p:txBody>
          <a:bodyPr>
            <a:normAutofit/>
          </a:bodyPr>
          <a:lstStyle/>
          <a:p>
            <a:pPr marL="514350" lvl="0" indent="-514350">
              <a:buFont typeface="+mj-lt"/>
              <a:buAutoNum type="arabicPeriod"/>
            </a:pPr>
            <a:r>
              <a:rPr lang="es-AR" dirty="0"/>
              <a:t>Se importa desde 'mysql2/</a:t>
            </a:r>
            <a:r>
              <a:rPr lang="es-AR" dirty="0" err="1"/>
              <a:t>promise</a:t>
            </a:r>
            <a:r>
              <a:rPr lang="es-AR" dirty="0"/>
              <a:t>', no desde 'mysql2': es la versión de la librería que devuelve </a:t>
            </a:r>
            <a:r>
              <a:rPr lang="es-AR" b="1" dirty="0"/>
              <a:t>promesas</a:t>
            </a:r>
            <a:r>
              <a:rPr lang="es-AR" dirty="0"/>
              <a:t> y por lo tanto se usa con </a:t>
            </a:r>
            <a:r>
              <a:rPr lang="es-AR" dirty="0" err="1"/>
              <a:t>await</a:t>
            </a:r>
            <a:r>
              <a:rPr lang="es-AR" dirty="0"/>
              <a:t>, como vieron en la clase 13. La otra versión trabaja con </a:t>
            </a:r>
            <a:r>
              <a:rPr lang="es-AR" dirty="0" err="1"/>
              <a:t>callbacks</a:t>
            </a:r>
            <a:r>
              <a:rPr lang="es-AR" dirty="0"/>
              <a:t>.</a:t>
            </a:r>
          </a:p>
          <a:p>
            <a:pPr marL="514350" lvl="0" indent="-514350">
              <a:buFont typeface="+mj-lt"/>
              <a:buAutoNum type="arabicPeriod"/>
            </a:pPr>
            <a:r>
              <a:rPr lang="es-AR" dirty="0"/>
              <a:t>Un </a:t>
            </a:r>
            <a:r>
              <a:rPr lang="es-AR" b="1" dirty="0"/>
              <a:t>pool</a:t>
            </a:r>
            <a:r>
              <a:rPr lang="es-AR" dirty="0"/>
              <a:t> es un grupo de conexiones abiertas que se reutilizan. Abrir una conexión a MySQL lleva tiempo (red, usuario, contraseña); en vez de abrir y cerrar una por pedido, el pool mantiene hasta </a:t>
            </a:r>
            <a:r>
              <a:rPr lang="es-AR" dirty="0" err="1"/>
              <a:t>connectionLimit</a:t>
            </a:r>
            <a:r>
              <a:rPr lang="es-AR" dirty="0"/>
              <a:t> abiertas y se las "presta" a cada consulta. Si llegan más pedidos que conexiones, </a:t>
            </a:r>
            <a:r>
              <a:rPr lang="es-AR" dirty="0" err="1"/>
              <a:t>waitForConnections</a:t>
            </a:r>
            <a:r>
              <a:rPr lang="es-AR" dirty="0"/>
              <a:t>: true los hace esperar su turno en vez de fallar.</a:t>
            </a:r>
          </a:p>
          <a:p>
            <a:pPr marL="514350" lvl="0" indent="-514350">
              <a:buFont typeface="+mj-lt"/>
              <a:buAutoNum type="arabicPeriod"/>
            </a:pPr>
            <a:r>
              <a:rPr lang="es-AR" dirty="0"/>
              <a:t>El pool se crea </a:t>
            </a:r>
            <a:r>
              <a:rPr lang="es-AR" b="1" dirty="0"/>
              <a:t>una sola vez</a:t>
            </a:r>
            <a:r>
              <a:rPr lang="es-AR" dirty="0"/>
              <a:t>, en este archivo, y se exporta. Todos los modelos importan el mismo pool — nunca se crea uno nuevo por consulta.</a:t>
            </a:r>
          </a:p>
          <a:p>
            <a:pPr marL="514350" lvl="0" indent="-514350">
              <a:buFont typeface="+mj-lt"/>
              <a:buAutoNum type="arabicPeriod"/>
            </a:pPr>
            <a:r>
              <a:rPr lang="es-AR" dirty="0"/>
              <a:t>SELECT 1 + 1 es una consulta que no toca ninguna tabla: sirve únicamente para confirmar que la conexión, el usuario y la contraseña son correctos.</a:t>
            </a:r>
          </a:p>
          <a:p>
            <a:endParaRPr lang="es-AR" dirty="0"/>
          </a:p>
        </p:txBody>
      </p:sp>
    </p:spTree>
    <p:extLst>
      <p:ext uri="{BB962C8B-B14F-4D97-AF65-F5344CB8AC3E}">
        <p14:creationId xmlns:p14="http://schemas.microsoft.com/office/powerpoint/2010/main" val="24680872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7FECD6-DA80-1641-FF20-D1F725F93DCB}"/>
              </a:ext>
            </a:extLst>
          </p:cNvPr>
          <p:cNvSpPr>
            <a:spLocks noGrp="1"/>
          </p:cNvSpPr>
          <p:nvPr>
            <p:ph type="title"/>
          </p:nvPr>
        </p:nvSpPr>
        <p:spPr/>
        <p:txBody>
          <a:bodyPr/>
          <a:lstStyle/>
          <a:p>
            <a:r>
              <a:rPr lang="es-AR" b="1" dirty="0"/>
              <a:t>Qué devuelve una consulta con mysql2</a:t>
            </a:r>
            <a:endParaRPr lang="es-AR" dirty="0"/>
          </a:p>
        </p:txBody>
      </p:sp>
      <p:sp>
        <p:nvSpPr>
          <p:cNvPr id="3" name="Marcador de contenido 2">
            <a:extLst>
              <a:ext uri="{FF2B5EF4-FFF2-40B4-BE49-F238E27FC236}">
                <a16:creationId xmlns:a16="http://schemas.microsoft.com/office/drawing/2014/main" id="{B0233EE9-4705-E487-70F9-98C05BBE141E}"/>
              </a:ext>
            </a:extLst>
          </p:cNvPr>
          <p:cNvSpPr>
            <a:spLocks noGrp="1"/>
          </p:cNvSpPr>
          <p:nvPr>
            <p:ph idx="1"/>
          </p:nvPr>
        </p:nvSpPr>
        <p:spPr/>
        <p:txBody>
          <a:bodyPr/>
          <a:lstStyle/>
          <a:p>
            <a:r>
              <a:rPr lang="es-AR" dirty="0"/>
              <a:t>Esta es la parte que más errores genera al principio. </a:t>
            </a:r>
            <a:r>
              <a:rPr lang="es-AR" dirty="0" err="1"/>
              <a:t>pool.query</a:t>
            </a:r>
            <a:r>
              <a:rPr lang="es-AR" dirty="0"/>
              <a:t>(</a:t>
            </a:r>
            <a:r>
              <a:rPr lang="es-AR" dirty="0" err="1"/>
              <a:t>sql</a:t>
            </a:r>
            <a:r>
              <a:rPr lang="es-AR" dirty="0"/>
              <a:t>, </a:t>
            </a:r>
            <a:r>
              <a:rPr lang="es-AR" dirty="0" err="1"/>
              <a:t>parametros</a:t>
            </a:r>
            <a:r>
              <a:rPr lang="es-AR" dirty="0"/>
              <a:t>) devuelve siempre un </a:t>
            </a:r>
            <a:r>
              <a:rPr lang="es-AR" b="1" dirty="0"/>
              <a:t>array de dos elementos</a:t>
            </a:r>
            <a:r>
              <a:rPr lang="es-AR" dirty="0"/>
              <a:t>: el resultado, y metadatos de las columnas (que casi nunca se usan). Por eso todas las consultas se escriben con desestructuración: </a:t>
            </a:r>
            <a:r>
              <a:rPr lang="es-AR" dirty="0" err="1"/>
              <a:t>const</a:t>
            </a:r>
            <a:r>
              <a:rPr lang="es-AR" dirty="0"/>
              <a:t> [filas] = </a:t>
            </a:r>
            <a:r>
              <a:rPr lang="es-AR" dirty="0" err="1"/>
              <a:t>await</a:t>
            </a:r>
            <a:r>
              <a:rPr lang="es-AR" dirty="0"/>
              <a:t> </a:t>
            </a:r>
            <a:r>
              <a:rPr lang="es-AR" dirty="0" err="1"/>
              <a:t>pool.query</a:t>
            </a:r>
            <a:r>
              <a:rPr lang="es-AR" dirty="0"/>
              <a:t>(...).</a:t>
            </a:r>
          </a:p>
        </p:txBody>
      </p:sp>
      <p:pic>
        <p:nvPicPr>
          <p:cNvPr id="5" name="Imagen 4">
            <a:extLst>
              <a:ext uri="{FF2B5EF4-FFF2-40B4-BE49-F238E27FC236}">
                <a16:creationId xmlns:a16="http://schemas.microsoft.com/office/drawing/2014/main" id="{104BA1D5-CDC0-F369-F4E1-27D1BAD84ED2}"/>
              </a:ext>
            </a:extLst>
          </p:cNvPr>
          <p:cNvPicPr>
            <a:picLocks noChangeAspect="1"/>
          </p:cNvPicPr>
          <p:nvPr/>
        </p:nvPicPr>
        <p:blipFill>
          <a:blip r:embed="rId2"/>
          <a:stretch>
            <a:fillRect/>
          </a:stretch>
        </p:blipFill>
        <p:spPr>
          <a:xfrm>
            <a:off x="1885735" y="3875524"/>
            <a:ext cx="8163237" cy="2450594"/>
          </a:xfrm>
          <a:prstGeom prst="rect">
            <a:avLst/>
          </a:prstGeom>
        </p:spPr>
      </p:pic>
    </p:spTree>
    <p:extLst>
      <p:ext uri="{BB962C8B-B14F-4D97-AF65-F5344CB8AC3E}">
        <p14:creationId xmlns:p14="http://schemas.microsoft.com/office/powerpoint/2010/main" val="16533039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8C615BF-2480-4009-8F39-EA383DE1A342}"/>
              </a:ext>
            </a:extLst>
          </p:cNvPr>
          <p:cNvSpPr>
            <a:spLocks noGrp="1"/>
          </p:cNvSpPr>
          <p:nvPr>
            <p:ph idx="1"/>
          </p:nvPr>
        </p:nvSpPr>
        <p:spPr>
          <a:xfrm>
            <a:off x="838200" y="1112363"/>
            <a:ext cx="10515600" cy="5064600"/>
          </a:xfrm>
        </p:spPr>
        <p:txBody>
          <a:bodyPr/>
          <a:lstStyle/>
          <a:p>
            <a:r>
              <a:rPr lang="es-AR" dirty="0"/>
              <a:t>Los </a:t>
            </a:r>
            <a:r>
              <a:rPr lang="es-AR" dirty="0" err="1"/>
              <a:t>placeholders</a:t>
            </a:r>
            <a:r>
              <a:rPr lang="es-AR" dirty="0"/>
              <a:t> ? funcionan igual que en SQLite y protegen igual contra inyección SQL: los valores van en un array como segundo argumento, en el mismo orden que los ?. (Existe también </a:t>
            </a:r>
            <a:r>
              <a:rPr lang="es-AR" dirty="0" err="1"/>
              <a:t>pool.execute</a:t>
            </a:r>
            <a:r>
              <a:rPr lang="es-AR" dirty="0"/>
              <a:t>(), que usa sentencias preparadas del lado del servidor; para este curso </a:t>
            </a:r>
            <a:r>
              <a:rPr lang="es-AR" dirty="0" err="1"/>
              <a:t>pool.query</a:t>
            </a:r>
            <a:r>
              <a:rPr lang="es-AR" dirty="0"/>
              <a:t>() con </a:t>
            </a:r>
            <a:r>
              <a:rPr lang="es-AR" dirty="0" err="1"/>
              <a:t>placeholders</a:t>
            </a:r>
            <a:r>
              <a:rPr lang="es-AR" dirty="0"/>
              <a:t> es igual de seguro y más simple.)</a:t>
            </a:r>
          </a:p>
        </p:txBody>
      </p:sp>
    </p:spTree>
    <p:extLst>
      <p:ext uri="{BB962C8B-B14F-4D97-AF65-F5344CB8AC3E}">
        <p14:creationId xmlns:p14="http://schemas.microsoft.com/office/powerpoint/2010/main" val="16501975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197FC0-EB30-A6B3-323D-A7B841429370}"/>
              </a:ext>
            </a:extLst>
          </p:cNvPr>
          <p:cNvSpPr>
            <a:spLocks noGrp="1"/>
          </p:cNvSpPr>
          <p:nvPr>
            <p:ph type="title"/>
          </p:nvPr>
        </p:nvSpPr>
        <p:spPr/>
        <p:txBody>
          <a:bodyPr/>
          <a:lstStyle/>
          <a:p>
            <a:r>
              <a:rPr lang="es-AR" b="1" dirty="0"/>
              <a:t>El modelo de tareas</a:t>
            </a:r>
            <a:endParaRPr lang="es-AR" dirty="0"/>
          </a:p>
        </p:txBody>
      </p:sp>
      <p:pic>
        <p:nvPicPr>
          <p:cNvPr id="5" name="Marcador de contenido 4">
            <a:extLst>
              <a:ext uri="{FF2B5EF4-FFF2-40B4-BE49-F238E27FC236}">
                <a16:creationId xmlns:a16="http://schemas.microsoft.com/office/drawing/2014/main" id="{DA47CC17-9D7D-C457-039E-619C13082DBE}"/>
              </a:ext>
            </a:extLst>
          </p:cNvPr>
          <p:cNvPicPr>
            <a:picLocks noGrp="1" noChangeAspect="1"/>
          </p:cNvPicPr>
          <p:nvPr>
            <p:ph idx="1"/>
          </p:nvPr>
        </p:nvPicPr>
        <p:blipFill>
          <a:blip r:embed="rId2"/>
          <a:stretch>
            <a:fillRect/>
          </a:stretch>
        </p:blipFill>
        <p:spPr>
          <a:xfrm>
            <a:off x="2928795" y="1736725"/>
            <a:ext cx="6329648" cy="4198938"/>
          </a:xfrm>
          <a:prstGeom prst="rect">
            <a:avLst/>
          </a:prstGeom>
        </p:spPr>
      </p:pic>
    </p:spTree>
    <p:extLst>
      <p:ext uri="{BB962C8B-B14F-4D97-AF65-F5344CB8AC3E}">
        <p14:creationId xmlns:p14="http://schemas.microsoft.com/office/powerpoint/2010/main" val="19782137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7DBD85A2-DE0B-0D09-69D2-95BE510046A8}"/>
              </a:ext>
            </a:extLst>
          </p:cNvPr>
          <p:cNvPicPr>
            <a:picLocks noGrp="1" noChangeAspect="1"/>
          </p:cNvPicPr>
          <p:nvPr>
            <p:ph idx="1"/>
          </p:nvPr>
        </p:nvPicPr>
        <p:blipFill>
          <a:blip r:embed="rId2"/>
          <a:stretch>
            <a:fillRect/>
          </a:stretch>
        </p:blipFill>
        <p:spPr>
          <a:xfrm>
            <a:off x="2321745" y="433633"/>
            <a:ext cx="7786531" cy="5535940"/>
          </a:xfrm>
          <a:prstGeom prst="rect">
            <a:avLst/>
          </a:prstGeom>
        </p:spPr>
      </p:pic>
    </p:spTree>
    <p:extLst>
      <p:ext uri="{BB962C8B-B14F-4D97-AF65-F5344CB8AC3E}">
        <p14:creationId xmlns:p14="http://schemas.microsoft.com/office/powerpoint/2010/main" val="10099511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444545-497A-7016-AA2C-3D1D084B7741}"/>
              </a:ext>
            </a:extLst>
          </p:cNvPr>
          <p:cNvSpPr>
            <a:spLocks noGrp="1"/>
          </p:cNvSpPr>
          <p:nvPr>
            <p:ph type="title"/>
          </p:nvPr>
        </p:nvSpPr>
        <p:spPr/>
        <p:txBody>
          <a:bodyPr/>
          <a:lstStyle/>
          <a:p>
            <a:r>
              <a:rPr lang="es-AR" cap="all" dirty="0"/>
              <a:t>Cómo funciona, paso a paso</a:t>
            </a:r>
            <a:endParaRPr lang="es-AR" dirty="0"/>
          </a:p>
        </p:txBody>
      </p:sp>
      <p:sp>
        <p:nvSpPr>
          <p:cNvPr id="3" name="Marcador de contenido 2">
            <a:extLst>
              <a:ext uri="{FF2B5EF4-FFF2-40B4-BE49-F238E27FC236}">
                <a16:creationId xmlns:a16="http://schemas.microsoft.com/office/drawing/2014/main" id="{5F8BBB61-6CC9-5B90-A090-34EE36BDE3B9}"/>
              </a:ext>
            </a:extLst>
          </p:cNvPr>
          <p:cNvSpPr>
            <a:spLocks noGrp="1"/>
          </p:cNvSpPr>
          <p:nvPr>
            <p:ph idx="1"/>
          </p:nvPr>
        </p:nvSpPr>
        <p:spPr/>
        <p:txBody>
          <a:bodyPr>
            <a:normAutofit/>
          </a:bodyPr>
          <a:lstStyle/>
          <a:p>
            <a:pPr marL="514350" lvl="0" indent="-514350">
              <a:buFont typeface="+mj-lt"/>
              <a:buAutoNum type="arabicPeriod"/>
            </a:pPr>
            <a:r>
              <a:rPr lang="es-AR" dirty="0"/>
              <a:t>El filtro por </a:t>
            </a:r>
            <a:r>
              <a:rPr lang="es-AR" dirty="0" err="1"/>
              <a:t>usuario_id</a:t>
            </a:r>
            <a:r>
              <a:rPr lang="es-AR" dirty="0"/>
              <a:t> sigue siendo </a:t>
            </a:r>
            <a:r>
              <a:rPr lang="es-AR" b="1" dirty="0"/>
              <a:t>obligatorio</a:t>
            </a:r>
            <a:r>
              <a:rPr lang="es-AR" dirty="0"/>
              <a:t> en todas las consultas, igual que en la clase 18 — incluido el UPDATE y el DELETE.</a:t>
            </a:r>
          </a:p>
          <a:p>
            <a:pPr marL="514350" lvl="0" indent="-514350">
              <a:buFont typeface="+mj-lt"/>
              <a:buAutoNum type="arabicPeriod"/>
            </a:pPr>
            <a:r>
              <a:rPr lang="es-AR" dirty="0"/>
              <a:t>SET completada = NOT completada invierte el valor directamente en la base, en una sola consulta. En la clase 16 hacía falta un SELECT para leer el estado actual y después un UPDATE; así se ahorra un viaje a la base y no hay riesgo de que otro pedido cambie el valor entre medio.</a:t>
            </a:r>
          </a:p>
          <a:p>
            <a:pPr marL="514350" lvl="0" indent="-514350">
              <a:buFont typeface="+mj-lt"/>
              <a:buAutoNum type="arabicPeriod"/>
            </a:pPr>
            <a:r>
              <a:rPr lang="es-AR" dirty="0"/>
              <a:t>crear devuelve la tarea nueva usando </a:t>
            </a:r>
            <a:r>
              <a:rPr lang="es-AR" dirty="0" err="1"/>
              <a:t>resultado.insertId</a:t>
            </a:r>
            <a:r>
              <a:rPr lang="es-AR" dirty="0"/>
              <a:t>, en vez de volver a leer todas las tareas como se hacía antes. Es lo que suelen esperar los </a:t>
            </a:r>
            <a:r>
              <a:rPr lang="es-AR" dirty="0" err="1"/>
              <a:t>frontends</a:t>
            </a:r>
            <a:r>
              <a:rPr lang="es-AR" dirty="0"/>
              <a:t> al hacer un POST: la tarea creada, con su id.</a:t>
            </a:r>
          </a:p>
          <a:p>
            <a:pPr marL="514350" lvl="0" indent="-514350">
              <a:buFont typeface="+mj-lt"/>
              <a:buAutoNum type="arabicPeriod"/>
            </a:pPr>
            <a:r>
              <a:rPr lang="es-AR" dirty="0" err="1"/>
              <a:t>alternarCompletada</a:t>
            </a:r>
            <a:r>
              <a:rPr lang="es-AR" dirty="0"/>
              <a:t> y eliminar devuelven true/false en lugar de lanzar un error o responder un 404. El modelo no sabe nada de HTTP: solo informa si encontró la fila. Decidir que eso es un 404 es trabajo del controlador.</a:t>
            </a:r>
          </a:p>
          <a:p>
            <a:endParaRPr lang="es-AR" dirty="0"/>
          </a:p>
        </p:txBody>
      </p:sp>
    </p:spTree>
    <p:extLst>
      <p:ext uri="{BB962C8B-B14F-4D97-AF65-F5344CB8AC3E}">
        <p14:creationId xmlns:p14="http://schemas.microsoft.com/office/powerpoint/2010/main" val="6406044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7D6375-1566-6BC2-103F-D35E8A4E4464}"/>
              </a:ext>
            </a:extLst>
          </p:cNvPr>
          <p:cNvSpPr>
            <a:spLocks noGrp="1"/>
          </p:cNvSpPr>
          <p:nvPr>
            <p:ph type="title"/>
          </p:nvPr>
        </p:nvSpPr>
        <p:spPr/>
        <p:txBody>
          <a:bodyPr/>
          <a:lstStyle/>
          <a:p>
            <a:r>
              <a:rPr lang="es-AR" b="1" dirty="0"/>
              <a:t>El controlador de tareas</a:t>
            </a:r>
            <a:endParaRPr lang="es-AR" dirty="0"/>
          </a:p>
        </p:txBody>
      </p:sp>
      <p:pic>
        <p:nvPicPr>
          <p:cNvPr id="6" name="Marcador de contenido 5">
            <a:extLst>
              <a:ext uri="{FF2B5EF4-FFF2-40B4-BE49-F238E27FC236}">
                <a16:creationId xmlns:a16="http://schemas.microsoft.com/office/drawing/2014/main" id="{5F0423DA-07CB-454C-09A0-9D0A49F98152}"/>
              </a:ext>
            </a:extLst>
          </p:cNvPr>
          <p:cNvPicPr>
            <a:picLocks noGrp="1" noChangeAspect="1"/>
          </p:cNvPicPr>
          <p:nvPr>
            <p:ph idx="1"/>
          </p:nvPr>
        </p:nvPicPr>
        <p:blipFill>
          <a:blip r:embed="rId2"/>
          <a:stretch>
            <a:fillRect/>
          </a:stretch>
        </p:blipFill>
        <p:spPr>
          <a:xfrm>
            <a:off x="1979629" y="1736724"/>
            <a:ext cx="6907727" cy="4635795"/>
          </a:xfrm>
          <a:prstGeom prst="rect">
            <a:avLst/>
          </a:prstGeom>
        </p:spPr>
      </p:pic>
    </p:spTree>
    <p:extLst>
      <p:ext uri="{BB962C8B-B14F-4D97-AF65-F5344CB8AC3E}">
        <p14:creationId xmlns:p14="http://schemas.microsoft.com/office/powerpoint/2010/main" val="32587826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B1A45C2F-9D1A-CAFE-0A80-37D46EFF50CF}"/>
              </a:ext>
            </a:extLst>
          </p:cNvPr>
          <p:cNvPicPr>
            <a:picLocks noGrp="1" noChangeAspect="1"/>
          </p:cNvPicPr>
          <p:nvPr>
            <p:ph idx="1"/>
          </p:nvPr>
        </p:nvPicPr>
        <p:blipFill>
          <a:blip r:embed="rId2"/>
          <a:stretch>
            <a:fillRect/>
          </a:stretch>
        </p:blipFill>
        <p:spPr>
          <a:xfrm>
            <a:off x="1772239" y="348792"/>
            <a:ext cx="7040899" cy="5586871"/>
          </a:xfrm>
          <a:prstGeom prst="rect">
            <a:avLst/>
          </a:prstGeom>
        </p:spPr>
      </p:pic>
    </p:spTree>
    <p:extLst>
      <p:ext uri="{BB962C8B-B14F-4D97-AF65-F5344CB8AC3E}">
        <p14:creationId xmlns:p14="http://schemas.microsoft.com/office/powerpoint/2010/main" val="7356868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99FA243-C996-390D-2584-08E498016972}"/>
              </a:ext>
            </a:extLst>
          </p:cNvPr>
          <p:cNvSpPr>
            <a:spLocks noGrp="1"/>
          </p:cNvSpPr>
          <p:nvPr>
            <p:ph idx="1"/>
          </p:nvPr>
        </p:nvSpPr>
        <p:spPr>
          <a:xfrm>
            <a:off x="602986" y="311086"/>
            <a:ext cx="10981137" cy="5623958"/>
          </a:xfrm>
        </p:spPr>
        <p:txBody>
          <a:bodyPr/>
          <a:lstStyle/>
          <a:p>
            <a:r>
              <a:rPr lang="es-AR"/>
              <a:t>Cada controlador está envuelto en try/catch con next(error), y no es un detalle de estilo: en Express 4, si una función async rechaza (por ejemplo, porque MySQL se cayó), Express </a:t>
            </a:r>
            <a:r>
              <a:rPr lang="es-AR" b="1"/>
              <a:t>no se entera</a:t>
            </a:r>
            <a:r>
              <a:rPr lang="es-AR"/>
              <a:t>. El pedido queda colgado sin respuesta hasta que el navegador se cansa de esperar. next(error) le pasa el error explícitamente al middleware de errores, que responde un 500:</a:t>
            </a:r>
            <a:endParaRPr lang="es-AR" dirty="0"/>
          </a:p>
        </p:txBody>
      </p:sp>
      <p:pic>
        <p:nvPicPr>
          <p:cNvPr id="5" name="Imagen 4">
            <a:extLst>
              <a:ext uri="{FF2B5EF4-FFF2-40B4-BE49-F238E27FC236}">
                <a16:creationId xmlns:a16="http://schemas.microsoft.com/office/drawing/2014/main" id="{33E44568-7CDB-FDA0-BEDB-630BC28467E4}"/>
              </a:ext>
            </a:extLst>
          </p:cNvPr>
          <p:cNvPicPr>
            <a:picLocks noChangeAspect="1"/>
          </p:cNvPicPr>
          <p:nvPr/>
        </p:nvPicPr>
        <p:blipFill>
          <a:blip r:embed="rId2"/>
          <a:stretch>
            <a:fillRect/>
          </a:stretch>
        </p:blipFill>
        <p:spPr>
          <a:xfrm>
            <a:off x="1060117" y="1725106"/>
            <a:ext cx="9796537" cy="1825952"/>
          </a:xfrm>
          <a:prstGeom prst="rect">
            <a:avLst/>
          </a:prstGeom>
        </p:spPr>
      </p:pic>
    </p:spTree>
    <p:extLst>
      <p:ext uri="{BB962C8B-B14F-4D97-AF65-F5344CB8AC3E}">
        <p14:creationId xmlns:p14="http://schemas.microsoft.com/office/powerpoint/2010/main" val="37667795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470B4EA-EB59-34CE-AE2D-94E64F50F69D}"/>
              </a:ext>
            </a:extLst>
          </p:cNvPr>
          <p:cNvSpPr>
            <a:spLocks noGrp="1"/>
          </p:cNvSpPr>
          <p:nvPr>
            <p:ph idx="1"/>
          </p:nvPr>
        </p:nvSpPr>
        <p:spPr>
          <a:xfrm>
            <a:off x="602986" y="424206"/>
            <a:ext cx="10981137" cy="5510837"/>
          </a:xfrm>
        </p:spPr>
        <p:txBody>
          <a:bodyPr>
            <a:normAutofit lnSpcReduction="10000"/>
          </a:bodyPr>
          <a:lstStyle/>
          <a:p>
            <a:r>
              <a:rPr lang="es-AR" dirty="0"/>
              <a:t>Express reconoce que es un middleware de errores porque recibe </a:t>
            </a:r>
            <a:r>
              <a:rPr lang="es-AR" b="1" dirty="0"/>
              <a:t>cuatro</a:t>
            </a:r>
            <a:r>
              <a:rPr lang="es-AR" dirty="0"/>
              <a:t> parámetros, con error primero — aunque </a:t>
            </a:r>
            <a:r>
              <a:rPr lang="es-AR" dirty="0" err="1"/>
              <a:t>next</a:t>
            </a:r>
            <a:r>
              <a:rPr lang="es-AR" dirty="0"/>
              <a:t> no se use, tiene que estar en la firma. El detalle del error se imprime en la consola del servidor, pero al cliente nunca se le manda el mensaje original de MySQL: puede revelar nombres de tablas o columnas.</a:t>
            </a:r>
          </a:p>
          <a:p>
            <a:endParaRPr lang="es-AR" dirty="0"/>
          </a:p>
          <a:p>
            <a:r>
              <a:rPr lang="es-AR" cap="all" dirty="0">
                <a:highlight>
                  <a:srgbClr val="FFFF00"/>
                </a:highlight>
              </a:rPr>
              <a:t>Errores comunes</a:t>
            </a:r>
          </a:p>
          <a:p>
            <a:pPr lvl="0"/>
            <a:r>
              <a:rPr lang="es-AR" b="1" dirty="0"/>
              <a:t>ECONNREFUSED 127.0.0.1:3306</a:t>
            </a:r>
            <a:r>
              <a:rPr lang="es-AR" dirty="0"/>
              <a:t>: MySQL no está corriendo (o escucha en otro puerto). Hay que iniciar el servicio, XAMPP o el contenedor antes de levantar el servidor </a:t>
            </a:r>
            <a:r>
              <a:rPr lang="es-AR" dirty="0" err="1"/>
              <a:t>Node</a:t>
            </a:r>
            <a:r>
              <a:rPr lang="es-AR" dirty="0"/>
              <a:t>.</a:t>
            </a:r>
          </a:p>
          <a:p>
            <a:pPr lvl="0"/>
            <a:r>
              <a:rPr lang="es-AR" b="1" dirty="0"/>
              <a:t>ER_ACCESS_DENIED_ERROR: Access </a:t>
            </a:r>
            <a:r>
              <a:rPr lang="es-AR" b="1" dirty="0" err="1"/>
              <a:t>denied</a:t>
            </a:r>
            <a:r>
              <a:rPr lang="es-AR" b="1" dirty="0"/>
              <a:t> </a:t>
            </a:r>
            <a:r>
              <a:rPr lang="es-AR" b="1" dirty="0" err="1"/>
              <a:t>for</a:t>
            </a:r>
            <a:r>
              <a:rPr lang="es-AR" b="1" dirty="0"/>
              <a:t> </a:t>
            </a:r>
            <a:r>
              <a:rPr lang="es-AR" b="1" dirty="0" err="1"/>
              <a:t>user</a:t>
            </a:r>
            <a:r>
              <a:rPr lang="es-AR" b="1" dirty="0"/>
              <a:t> ''@'localhost'</a:t>
            </a:r>
            <a:r>
              <a:rPr lang="es-AR" dirty="0"/>
              <a:t>: si el usuario aparece vacío, el .</a:t>
            </a:r>
            <a:r>
              <a:rPr lang="es-AR" dirty="0" err="1"/>
              <a:t>env</a:t>
            </a:r>
            <a:r>
              <a:rPr lang="es-AR" dirty="0"/>
              <a:t> no se cargó — casi siempre porque </a:t>
            </a:r>
            <a:r>
              <a:rPr lang="es-AR" dirty="0" err="1"/>
              <a:t>import</a:t>
            </a:r>
            <a:r>
              <a:rPr lang="es-AR" dirty="0"/>
              <a:t> '</a:t>
            </a:r>
            <a:r>
              <a:rPr lang="es-AR" dirty="0" err="1"/>
              <a:t>dotenv</a:t>
            </a:r>
            <a:r>
              <a:rPr lang="es-AR" dirty="0"/>
              <a:t>/</a:t>
            </a:r>
            <a:r>
              <a:rPr lang="es-AR" dirty="0" err="1"/>
              <a:t>config</a:t>
            </a:r>
            <a:r>
              <a:rPr lang="es-AR" dirty="0"/>
              <a:t>' no es la primera línea de server.js, o porque el .</a:t>
            </a:r>
            <a:r>
              <a:rPr lang="es-AR" dirty="0" err="1"/>
              <a:t>env</a:t>
            </a:r>
            <a:r>
              <a:rPr lang="es-AR" dirty="0"/>
              <a:t> no está en la raíz del proyecto (desde donde se ejecuta </a:t>
            </a:r>
            <a:r>
              <a:rPr lang="es-AR" dirty="0" err="1"/>
              <a:t>npm</a:t>
            </a:r>
            <a:r>
              <a:rPr lang="es-AR" dirty="0"/>
              <a:t> run </a:t>
            </a:r>
            <a:r>
              <a:rPr lang="es-AR" dirty="0" err="1"/>
              <a:t>dev</a:t>
            </a:r>
            <a:r>
              <a:rPr lang="es-AR" dirty="0"/>
              <a:t>). Si el usuario aparece bien, la contraseña es incorrecta.</a:t>
            </a:r>
          </a:p>
          <a:p>
            <a:pPr lvl="0"/>
            <a:r>
              <a:rPr lang="es-AR" b="1" dirty="0"/>
              <a:t>ER_BAD_DB_ERROR: Unknown </a:t>
            </a:r>
            <a:r>
              <a:rPr lang="es-AR" b="1" dirty="0" err="1"/>
              <a:t>database</a:t>
            </a:r>
            <a:r>
              <a:rPr lang="es-AR" b="1" dirty="0"/>
              <a:t> '</a:t>
            </a:r>
            <a:r>
              <a:rPr lang="es-AR" b="1" dirty="0" err="1"/>
              <a:t>tareas_db</a:t>
            </a:r>
            <a:r>
              <a:rPr lang="es-AR" b="1" dirty="0"/>
              <a:t>'</a:t>
            </a:r>
            <a:r>
              <a:rPr lang="es-AR" dirty="0"/>
              <a:t>: no se ejecutó </a:t>
            </a:r>
            <a:r>
              <a:rPr lang="es-AR" dirty="0" err="1"/>
              <a:t>schema.sql</a:t>
            </a:r>
            <a:r>
              <a:rPr lang="es-AR" dirty="0"/>
              <a:t>, o DB_NAME tiene un error de tipeo.</a:t>
            </a:r>
          </a:p>
          <a:p>
            <a:pPr lvl="0"/>
            <a:r>
              <a:rPr lang="es-AR" b="1" dirty="0"/>
              <a:t>Olvidar los corchetes</a:t>
            </a:r>
            <a:r>
              <a:rPr lang="es-AR" dirty="0"/>
              <a:t> en </a:t>
            </a:r>
            <a:r>
              <a:rPr lang="es-AR" dirty="0" err="1"/>
              <a:t>const</a:t>
            </a:r>
            <a:r>
              <a:rPr lang="es-AR" dirty="0"/>
              <a:t> [filas] = </a:t>
            </a:r>
            <a:r>
              <a:rPr lang="es-AR" dirty="0" err="1"/>
              <a:t>await</a:t>
            </a:r>
            <a:r>
              <a:rPr lang="es-AR" dirty="0"/>
              <a:t> </a:t>
            </a:r>
            <a:r>
              <a:rPr lang="es-AR" dirty="0" err="1"/>
              <a:t>pool.query</a:t>
            </a:r>
            <a:r>
              <a:rPr lang="es-AR" dirty="0"/>
              <a:t>(...): sin ellos, filas es el array [resultado, campos], y la respuesta trae un array dentro de otro con información técnica de las columnas.</a:t>
            </a:r>
          </a:p>
          <a:p>
            <a:pPr lvl="0"/>
            <a:r>
              <a:rPr lang="es-AR" b="1" dirty="0"/>
              <a:t>Olvidar el </a:t>
            </a:r>
            <a:r>
              <a:rPr lang="es-AR" b="1" dirty="0" err="1"/>
              <a:t>await</a:t>
            </a:r>
            <a:r>
              <a:rPr lang="es-AR" dirty="0"/>
              <a:t>: el controlador recibe una Promise { &lt;</a:t>
            </a:r>
            <a:r>
              <a:rPr lang="es-AR" dirty="0" err="1"/>
              <a:t>pending</a:t>
            </a:r>
            <a:r>
              <a:rPr lang="es-AR" dirty="0"/>
              <a:t>&gt; } en vez de datos, y </a:t>
            </a:r>
            <a:r>
              <a:rPr lang="es-AR" dirty="0" err="1"/>
              <a:t>res.json</a:t>
            </a:r>
            <a:r>
              <a:rPr lang="es-AR" dirty="0"/>
              <a:t> responde {}.</a:t>
            </a:r>
          </a:p>
          <a:p>
            <a:pPr lvl="0"/>
            <a:r>
              <a:rPr lang="es-AR" b="1" dirty="0"/>
              <a:t>Importar desde 'mysql2' en vez de 'mysql2/</a:t>
            </a:r>
            <a:r>
              <a:rPr lang="es-AR" b="1" dirty="0" err="1"/>
              <a:t>promise</a:t>
            </a:r>
            <a:r>
              <a:rPr lang="es-AR" b="1" dirty="0"/>
              <a:t>'</a:t>
            </a:r>
            <a:r>
              <a:rPr lang="es-AR" dirty="0"/>
              <a:t>: el </a:t>
            </a:r>
            <a:r>
              <a:rPr lang="es-AR" dirty="0" err="1"/>
              <a:t>await</a:t>
            </a:r>
            <a:r>
              <a:rPr lang="es-AR" dirty="0"/>
              <a:t> sobre la consulta tira un error que dice, justamente, que se intentó usar </a:t>
            </a:r>
            <a:r>
              <a:rPr lang="es-AR" dirty="0" err="1"/>
              <a:t>await</a:t>
            </a:r>
            <a:r>
              <a:rPr lang="es-AR" dirty="0"/>
              <a:t> sobre algo que no es una promesa.</a:t>
            </a:r>
          </a:p>
          <a:p>
            <a:pPr lvl="0"/>
            <a:r>
              <a:rPr lang="es-AR" b="1" dirty="0"/>
              <a:t>ERR_MODULE_NOT_FOUND</a:t>
            </a:r>
            <a:r>
              <a:rPr lang="es-AR" dirty="0"/>
              <a:t> al reorganizar los archivos: con ES Modules, los </a:t>
            </a:r>
            <a:r>
              <a:rPr lang="es-AR" dirty="0" err="1"/>
              <a:t>imports</a:t>
            </a:r>
            <a:r>
              <a:rPr lang="es-AR" dirty="0"/>
              <a:t> relativos </a:t>
            </a:r>
            <a:r>
              <a:rPr lang="es-AR" b="1" dirty="0"/>
              <a:t>necesitan la extensión</a:t>
            </a:r>
            <a:r>
              <a:rPr lang="es-AR" dirty="0"/>
              <a:t> ('./app.js', no './app'), y la ruta es relativa al archivo que importa — desde </a:t>
            </a:r>
            <a:r>
              <a:rPr lang="es-AR" dirty="0" err="1"/>
              <a:t>controllers</a:t>
            </a:r>
            <a:r>
              <a:rPr lang="es-AR" dirty="0"/>
              <a:t>/, el modelo está en '../</a:t>
            </a:r>
            <a:r>
              <a:rPr lang="es-AR" dirty="0" err="1"/>
              <a:t>models</a:t>
            </a:r>
            <a:r>
              <a:rPr lang="es-AR" dirty="0"/>
              <a:t>/tareas.model.js'.</a:t>
            </a:r>
          </a:p>
          <a:p>
            <a:endParaRPr lang="es-AR" dirty="0">
              <a:highlight>
                <a:srgbClr val="FFFF00"/>
              </a:highlight>
            </a:endParaRPr>
          </a:p>
        </p:txBody>
      </p:sp>
    </p:spTree>
    <p:extLst>
      <p:ext uri="{BB962C8B-B14F-4D97-AF65-F5344CB8AC3E}">
        <p14:creationId xmlns:p14="http://schemas.microsoft.com/office/powerpoint/2010/main" val="8227421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726B51-EFB0-3AAA-2278-C501AD06E610}"/>
              </a:ext>
            </a:extLst>
          </p:cNvPr>
          <p:cNvSpPr>
            <a:spLocks noGrp="1"/>
          </p:cNvSpPr>
          <p:nvPr>
            <p:ph type="title"/>
          </p:nvPr>
        </p:nvSpPr>
        <p:spPr>
          <a:xfrm>
            <a:off x="602986" y="414779"/>
            <a:ext cx="10981137" cy="808866"/>
          </a:xfrm>
        </p:spPr>
        <p:txBody>
          <a:bodyPr/>
          <a:lstStyle/>
          <a:p>
            <a:r>
              <a:rPr lang="es-AR" dirty="0"/>
              <a:t>Para practicar en clase</a:t>
            </a:r>
          </a:p>
        </p:txBody>
      </p:sp>
      <p:sp>
        <p:nvSpPr>
          <p:cNvPr id="3" name="Marcador de contenido 2">
            <a:extLst>
              <a:ext uri="{FF2B5EF4-FFF2-40B4-BE49-F238E27FC236}">
                <a16:creationId xmlns:a16="http://schemas.microsoft.com/office/drawing/2014/main" id="{235F7A85-86F9-C51F-DEE2-CADCF338651D}"/>
              </a:ext>
            </a:extLst>
          </p:cNvPr>
          <p:cNvSpPr>
            <a:spLocks noGrp="1"/>
          </p:cNvSpPr>
          <p:nvPr>
            <p:ph idx="1"/>
          </p:nvPr>
        </p:nvSpPr>
        <p:spPr/>
        <p:txBody>
          <a:bodyPr/>
          <a:lstStyle/>
          <a:p>
            <a:pPr lvl="0"/>
            <a:r>
              <a:rPr lang="es-AR" dirty="0"/>
              <a:t>Crear </a:t>
            </a:r>
            <a:r>
              <a:rPr lang="es-AR" dirty="0" err="1"/>
              <a:t>database</a:t>
            </a:r>
            <a:r>
              <a:rPr lang="es-AR" dirty="0"/>
              <a:t>/</a:t>
            </a:r>
            <a:r>
              <a:rPr lang="es-AR" dirty="0" err="1"/>
              <a:t>schema.sql</a:t>
            </a:r>
            <a:r>
              <a:rPr lang="es-AR" dirty="0"/>
              <a:t>, ejecutarlo, y crear el usuario </a:t>
            </a:r>
            <a:r>
              <a:rPr lang="es-AR" dirty="0" err="1"/>
              <a:t>tareas_app</a:t>
            </a:r>
            <a:r>
              <a:rPr lang="es-AR" dirty="0"/>
              <a:t> con permisos sobre </a:t>
            </a:r>
            <a:r>
              <a:rPr lang="es-AR" dirty="0" err="1"/>
              <a:t>tareas_db</a:t>
            </a:r>
            <a:r>
              <a:rPr lang="es-AR" dirty="0"/>
              <a:t>.</a:t>
            </a:r>
          </a:p>
          <a:p>
            <a:pPr lvl="0"/>
            <a:r>
              <a:rPr lang="es-AR" dirty="0"/>
              <a:t>Reorganizar el proyecto de la clase 18 en la estructura de carpetas de esta clase (rutas, controladores, modelos, middlewares, app.js y server.js), y actualizar los scripts de </a:t>
            </a:r>
            <a:r>
              <a:rPr lang="es-AR" dirty="0" err="1"/>
              <a:t>package.json</a:t>
            </a:r>
            <a:r>
              <a:rPr lang="es-AR" dirty="0"/>
              <a:t>.</a:t>
            </a:r>
          </a:p>
          <a:p>
            <a:pPr lvl="0"/>
            <a:r>
              <a:rPr lang="es-AR" dirty="0"/>
              <a:t>Instalar mysql2, completar el .</a:t>
            </a:r>
            <a:r>
              <a:rPr lang="es-AR" dirty="0" err="1"/>
              <a:t>env</a:t>
            </a:r>
            <a:r>
              <a:rPr lang="es-AR" dirty="0"/>
              <a:t> y escribir </a:t>
            </a:r>
            <a:r>
              <a:rPr lang="es-AR" dirty="0" err="1"/>
              <a:t>config</a:t>
            </a:r>
            <a:r>
              <a:rPr lang="es-AR" dirty="0"/>
              <a:t>/db.js.</a:t>
            </a:r>
          </a:p>
          <a:p>
            <a:pPr lvl="0"/>
            <a:r>
              <a:rPr lang="es-AR" dirty="0"/>
              <a:t>Escribir usuarios.model.js y auth.controller.js con MySQL, de modo que /registro y /login sigan funcionando igual que en la clase 17.</a:t>
            </a:r>
          </a:p>
          <a:p>
            <a:pPr lvl="0"/>
            <a:r>
              <a:rPr lang="es-AR" dirty="0"/>
              <a:t>Probar con dos usuarios desde la consola del navegador, y verificar en </a:t>
            </a:r>
            <a:r>
              <a:rPr lang="es-AR" dirty="0" err="1"/>
              <a:t>Workbench</a:t>
            </a:r>
            <a:r>
              <a:rPr lang="es-AR" dirty="0"/>
              <a:t> con un JOIN que cada tarea quedó asociada a su dueño.</a:t>
            </a:r>
          </a:p>
          <a:p>
            <a:pPr lvl="0"/>
            <a:r>
              <a:rPr lang="es-AR" b="1" dirty="0"/>
              <a:t>Extra:</a:t>
            </a:r>
            <a:r>
              <a:rPr lang="es-AR" dirty="0"/>
              <a:t> agregar GET /tareas/:id, que devuelva una sola tarea (o 404 si no existe o es de otro usuario).</a:t>
            </a:r>
          </a:p>
          <a:p>
            <a:endParaRPr lang="es-AR" dirty="0"/>
          </a:p>
        </p:txBody>
      </p:sp>
    </p:spTree>
    <p:extLst>
      <p:ext uri="{BB962C8B-B14F-4D97-AF65-F5344CB8AC3E}">
        <p14:creationId xmlns:p14="http://schemas.microsoft.com/office/powerpoint/2010/main" val="36801538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A94AE2-39EA-F2D2-ED96-AA3C54862B34}"/>
              </a:ext>
            </a:extLst>
          </p:cNvPr>
          <p:cNvSpPr>
            <a:spLocks noGrp="1"/>
          </p:cNvSpPr>
          <p:nvPr>
            <p:ph type="title"/>
          </p:nvPr>
        </p:nvSpPr>
        <p:spPr/>
        <p:txBody>
          <a:bodyPr/>
          <a:lstStyle/>
          <a:p>
            <a:endParaRPr lang="es-AR"/>
          </a:p>
        </p:txBody>
      </p:sp>
      <p:sp>
        <p:nvSpPr>
          <p:cNvPr id="3" name="Marcador de contenido 2">
            <a:extLst>
              <a:ext uri="{FF2B5EF4-FFF2-40B4-BE49-F238E27FC236}">
                <a16:creationId xmlns:a16="http://schemas.microsoft.com/office/drawing/2014/main" id="{ABBB813D-1AB8-3D37-A68B-4A532C2CC798}"/>
              </a:ext>
            </a:extLst>
          </p:cNvPr>
          <p:cNvSpPr>
            <a:spLocks noGrp="1"/>
          </p:cNvSpPr>
          <p:nvPr>
            <p:ph idx="1"/>
          </p:nvPr>
        </p:nvSpPr>
        <p:spPr/>
        <p:txBody>
          <a:bodyPr/>
          <a:lstStyle/>
          <a:p>
            <a:endParaRPr lang="es-AR"/>
          </a:p>
        </p:txBody>
      </p:sp>
    </p:spTree>
    <p:extLst>
      <p:ext uri="{BB962C8B-B14F-4D97-AF65-F5344CB8AC3E}">
        <p14:creationId xmlns:p14="http://schemas.microsoft.com/office/powerpoint/2010/main" val="3050490465"/>
      </p:ext>
    </p:extLst>
  </p:cSld>
  <p:clrMapOvr>
    <a:masterClrMapping/>
  </p:clrMapOvr>
</p:sld>
</file>

<file path=ppt/theme/theme1.xml><?xml version="1.0" encoding="utf-8"?>
<a:theme xmlns:a="http://schemas.openxmlformats.org/drawingml/2006/main" name="Experiencia naranja">
  <a:themeElements>
    <a:clrScheme name="Experiencia naranja">
      <a:dk1>
        <a:srgbClr val="131313"/>
      </a:dk1>
      <a:lt1>
        <a:sysClr val="window" lastClr="FFFFFF"/>
      </a:lt1>
      <a:dk2>
        <a:srgbClr val="444742"/>
      </a:dk2>
      <a:lt2>
        <a:srgbClr val="EDECE9"/>
      </a:lt2>
      <a:accent1>
        <a:srgbClr val="ED6845"/>
      </a:accent1>
      <a:accent2>
        <a:srgbClr val="F48A56"/>
      </a:accent2>
      <a:accent3>
        <a:srgbClr val="9FA295"/>
      </a:accent3>
      <a:accent4>
        <a:srgbClr val="5B6E74"/>
      </a:accent4>
      <a:accent5>
        <a:srgbClr val="6E7868"/>
      </a:accent5>
      <a:accent6>
        <a:srgbClr val="A1AAAA"/>
      </a:accent6>
      <a:hlink>
        <a:srgbClr val="F05814"/>
      </a:hlink>
      <a:folHlink>
        <a:srgbClr val="E99401"/>
      </a:folHlink>
    </a:clrScheme>
    <a:fontScheme name="Custom 40">
      <a:majorFont>
        <a:latin typeface="Oswald SemiBold"/>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range experience" id="{9BAA8FFB-1EEF-49AC-B7FF-0F37799585E9}" vid="{6523F788-A6E6-47B0-B3C7-625411BE5A1C}"/>
    </a:ext>
  </a:extLst>
</a:theme>
</file>

<file path=docProps/app.xml><?xml version="1.0" encoding="utf-8"?>
<Properties xmlns="http://schemas.openxmlformats.org/officeDocument/2006/extended-properties" xmlns:vt="http://schemas.openxmlformats.org/officeDocument/2006/docPropsVTypes">
  <Template>Orange Experience</Template>
  <TotalTime>72</TotalTime>
  <Words>2430</Words>
  <Application>Microsoft Office PowerPoint</Application>
  <PresentationFormat>Panorámica</PresentationFormat>
  <Paragraphs>108</Paragraphs>
  <Slides>31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31</vt:i4>
      </vt:variant>
    </vt:vector>
  </HeadingPairs>
  <TitlesOfParts>
    <vt:vector size="36" baseType="lpstr">
      <vt:lpstr>Arial</vt:lpstr>
      <vt:lpstr>Calibri</vt:lpstr>
      <vt:lpstr>Oswald SemiBold</vt:lpstr>
      <vt:lpstr>Univers Condensed Light</vt:lpstr>
      <vt:lpstr>Experiencia naranja</vt:lpstr>
      <vt:lpstr>Estructura del proyecto y MySQL</vt:lpstr>
      <vt:lpstr>Conexión con la clase anterior</vt:lpstr>
      <vt:lpstr>Parte 1 · Por qué separar en capas</vt:lpstr>
      <vt:lpstr>Presentación de PowerPoint</vt:lpstr>
      <vt:lpstr>Presentación de PowerPoint</vt:lpstr>
      <vt:lpstr>Presentación de PowerPoint</vt:lpstr>
      <vt:lpstr>app.js y server.js: por qué son dos archivos</vt:lpstr>
      <vt:lpstr>src/server.js</vt:lpstr>
      <vt:lpstr>Cómo funciona, paso a paso</vt:lpstr>
      <vt:lpstr>Rutas con express.Router() src/routes/tareas.routes.js </vt:lpstr>
      <vt:lpstr>Presentación de PowerPoint</vt:lpstr>
      <vt:lpstr>Parte 2 · De SQLite a MySQL</vt:lpstr>
      <vt:lpstr>Presentación de PowerPoint</vt:lpstr>
      <vt:lpstr>Crear la base y las tablas: schema.sql</vt:lpstr>
      <vt:lpstr>database/schema.sql</vt:lpstr>
      <vt:lpstr>Presentación de PowerPoint</vt:lpstr>
      <vt:lpstr>Buena práctica: un usuario por aplicación</vt:lpstr>
      <vt:lpstr>Configuración: .env y config/db.js</vt:lpstr>
      <vt:lpstr>Presentación de PowerPoint</vt:lpstr>
      <vt:lpstr>Cómo funciona, paso a paso</vt:lpstr>
      <vt:lpstr>Qué devuelve una consulta con mysql2</vt:lpstr>
      <vt:lpstr>Presentación de PowerPoint</vt:lpstr>
      <vt:lpstr>El modelo de tareas</vt:lpstr>
      <vt:lpstr>Presentación de PowerPoint</vt:lpstr>
      <vt:lpstr>Cómo funciona, paso a paso</vt:lpstr>
      <vt:lpstr>El controlador de tareas</vt:lpstr>
      <vt:lpstr>Presentación de PowerPoint</vt:lpstr>
      <vt:lpstr>Presentación de PowerPoint</vt:lpstr>
      <vt:lpstr>Presentación de PowerPoint</vt:lpstr>
      <vt:lpstr>Para practicar en clase</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Claudio Sotelo</dc:creator>
  <cp:lastModifiedBy>Claudio Sotelo</cp:lastModifiedBy>
  <cp:revision>3</cp:revision>
  <dcterms:created xsi:type="dcterms:W3CDTF">2026-10-07T20:52:48Z</dcterms:created>
  <dcterms:modified xsi:type="dcterms:W3CDTF">2026-10-08T20:34:14Z</dcterms:modified>
</cp:coreProperties>
</file>